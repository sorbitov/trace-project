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244e1bc4054296" /><Relationship Type="http://schemas.openxmlformats.org/officeDocument/2006/relationships/extended-properties" Target="/docProps/app.xml" Id="R29679061a01b4f38" /><Relationship Type="http://schemas.openxmlformats.org/officeDocument/2006/relationships/officeDocument" Target="/ppt/presentation.xml" Id="R845c92b0275648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6e53436d4947fa"/>
  </p:sldMasterIdLst>
  <p:notesMasterIdLst>
    <p:notesMasterId xmlns:r="http://schemas.openxmlformats.org/officeDocument/2006/relationships" r:id="Rab07b5ac83484436"/>
  </p:notesMasterIdLst>
  <p:sldIdLst>
    <p:sldId xmlns:r="http://schemas.openxmlformats.org/officeDocument/2006/relationships" id="256" r:id="Rd2aea6cb5f3440fa"/>
    <p:sldId xmlns:r="http://schemas.openxmlformats.org/officeDocument/2006/relationships" id="257" r:id="Ree5666158b2b4061"/>
    <p:sldId xmlns:r="http://schemas.openxmlformats.org/officeDocument/2006/relationships" id="258" r:id="R5a54e58d390f47c9"/>
    <p:sldId xmlns:r="http://schemas.openxmlformats.org/officeDocument/2006/relationships" id="259" r:id="R83fc886284f04f9f"/>
    <p:sldId xmlns:r="http://schemas.openxmlformats.org/officeDocument/2006/relationships" id="260" r:id="R528b8c0e66eb4afc"/>
    <p:sldId xmlns:r="http://schemas.openxmlformats.org/officeDocument/2006/relationships" id="261" r:id="R80fcfbdd79214570"/>
    <p:sldId xmlns:r="http://schemas.openxmlformats.org/officeDocument/2006/relationships" id="262" r:id="R8a170e534c7649bf"/>
    <p:sldId xmlns:r="http://schemas.openxmlformats.org/officeDocument/2006/relationships" id="263" r:id="Re3d90e3017ac4743"/>
    <p:sldId xmlns:r="http://schemas.openxmlformats.org/officeDocument/2006/relationships" id="264" r:id="Rbcd83e37fe4a481a"/>
    <p:sldId xmlns:r="http://schemas.openxmlformats.org/officeDocument/2006/relationships" id="265" r:id="R17b279a7b2904a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f632da9fe64956" /><Relationship Type="http://schemas.openxmlformats.org/officeDocument/2006/relationships/slideMaster" Target="/ppt/slideMasters/slideMaster1.xml" Id="R976e53436d4947fa" /><Relationship Type="http://schemas.openxmlformats.org/officeDocument/2006/relationships/notesMaster" Target="/ppt/notesMasters/notesMaster1.xml" Id="Rab07b5ac83484436" /><Relationship Type="http://schemas.openxmlformats.org/officeDocument/2006/relationships/presProps" Target="/ppt/presProps.xml" Id="R2d4b7b45a0d84df9" /><Relationship Type="http://schemas.openxmlformats.org/officeDocument/2006/relationships/tableStyles" Target="/ppt/tableStyles.xml" Id="R758fdbe3097e4596" /><Relationship Type="http://schemas.openxmlformats.org/officeDocument/2006/relationships/slide" Target="/ppt/slides/slide1.xml" Id="Rd2aea6cb5f3440fa" /><Relationship Type="http://schemas.openxmlformats.org/officeDocument/2006/relationships/slide" Target="/ppt/slides/slide2.xml" Id="Ree5666158b2b4061" /><Relationship Type="http://schemas.openxmlformats.org/officeDocument/2006/relationships/slide" Target="/ppt/slides/slide3.xml" Id="R5a54e58d390f47c9" /><Relationship Type="http://schemas.openxmlformats.org/officeDocument/2006/relationships/slide" Target="/ppt/slides/slide4.xml" Id="R83fc886284f04f9f" /><Relationship Type="http://schemas.openxmlformats.org/officeDocument/2006/relationships/slide" Target="/ppt/slides/slide5.xml" Id="R528b8c0e66eb4afc" /><Relationship Type="http://schemas.openxmlformats.org/officeDocument/2006/relationships/slide" Target="/ppt/slides/slide6.xml" Id="R80fcfbdd79214570" /><Relationship Type="http://schemas.openxmlformats.org/officeDocument/2006/relationships/slide" Target="/ppt/slides/slide7.xml" Id="R8a170e534c7649bf" /><Relationship Type="http://schemas.openxmlformats.org/officeDocument/2006/relationships/slide" Target="/ppt/slides/slide8.xml" Id="Re3d90e3017ac4743" /><Relationship Type="http://schemas.openxmlformats.org/officeDocument/2006/relationships/slide" Target="/ppt/slides/slide9.xml" Id="Rbcd83e37fe4a481a" /><Relationship Type="http://schemas.openxmlformats.org/officeDocument/2006/relationships/slide" Target="/ppt/slides/slide10.xml" Id="R17b279a7b2904a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50b1f9c05746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7abab1b0d4a1b" /><Relationship Type="http://schemas.openxmlformats.org/officeDocument/2006/relationships/notesMaster" Target="/ppt/notesMasters/notesMaster1.xml" Id="R496a05dfcdc941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dc31d280b44f66" /><Relationship Type="http://schemas.openxmlformats.org/officeDocument/2006/relationships/notesMaster" Target="/ppt/notesMasters/notesMaster1.xml" Id="Ra6cba743ff484f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ed64fee80341f2" /><Relationship Type="http://schemas.openxmlformats.org/officeDocument/2006/relationships/notesMaster" Target="/ppt/notesMasters/notesMaster1.xml" Id="R40eec6b1f2204b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349a36c5a54657" /><Relationship Type="http://schemas.openxmlformats.org/officeDocument/2006/relationships/notesMaster" Target="/ppt/notesMasters/notesMaster1.xml" Id="R3fa512b5062243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15a0fd9e474716" /><Relationship Type="http://schemas.openxmlformats.org/officeDocument/2006/relationships/notesMaster" Target="/ppt/notesMasters/notesMaster1.xml" Id="R813e0a01918644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68d781caaf4fd1" /><Relationship Type="http://schemas.openxmlformats.org/officeDocument/2006/relationships/notesMaster" Target="/ppt/notesMasters/notesMaster1.xml" Id="R0bfd3bc7654a48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20621865074366" /><Relationship Type="http://schemas.openxmlformats.org/officeDocument/2006/relationships/notesMaster" Target="/ppt/notesMasters/notesMaster1.xml" Id="R214c532f770940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1eca738921445b" /><Relationship Type="http://schemas.openxmlformats.org/officeDocument/2006/relationships/notesMaster" Target="/ppt/notesMasters/notesMaster1.xml" Id="R5947cd2361b248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ad902ee5234098" /><Relationship Type="http://schemas.openxmlformats.org/officeDocument/2006/relationships/notesMaster" Target="/ppt/notesMasters/notesMaster1.xml" Id="Rffd9774ac7364f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48e7f271ba4e2a" /><Relationship Type="http://schemas.openxmlformats.org/officeDocument/2006/relationships/notesMaster" Target="/ppt/notesMasters/notesMaster1.xml" Id="R4c7048ebe1b743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a84bace6c140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7e60ab09b64c4c" /><Relationship Type="http://schemas.openxmlformats.org/officeDocument/2006/relationships/slideLayout" Target="/ppt/slideLayouts/slideLayout1.xml" Id="Rb1f2881f3ebc43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f2881f3ebc43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57eb0d8b0480b" /><Relationship Type="http://schemas.openxmlformats.org/officeDocument/2006/relationships/image" Target="/ppt/media/image.jpeg" Id="R30d915b86d874b38" /><Relationship Type="http://schemas.openxmlformats.org/officeDocument/2006/relationships/notesSlide" Target="/ppt/notesSlides/notesSlide1.xml" Id="Rb9397e3c185548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0c9a591974569" /><Relationship Type="http://schemas.openxmlformats.org/officeDocument/2006/relationships/notesSlide" Target="/ppt/notesSlides/notesSlide2.xml" Id="R47baaa7373c84e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2e9bd8fbb400b" /><Relationship Type="http://schemas.openxmlformats.org/officeDocument/2006/relationships/notesSlide" Target="/ppt/notesSlides/notesSlide3.xml" Id="R5a7db23bd8bc49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79447990dc4b6a" /><Relationship Type="http://schemas.openxmlformats.org/officeDocument/2006/relationships/notesSlide" Target="/ppt/notesSlides/notesSlide4.xml" Id="Rf9c386830cb04e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2f2ac2bd547a0" /><Relationship Type="http://schemas.openxmlformats.org/officeDocument/2006/relationships/notesSlide" Target="/ppt/notesSlides/notesSlide5.xml" Id="R868aa51cba8d47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ac90a730944bd" /><Relationship Type="http://schemas.openxmlformats.org/officeDocument/2006/relationships/notesSlide" Target="/ppt/notesSlides/notesSlide6.xml" Id="Ra903d28e1beb43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3d0cca5124c71" /><Relationship Type="http://schemas.openxmlformats.org/officeDocument/2006/relationships/notesSlide" Target="/ppt/notesSlides/notesSlide7.xml" Id="R70a09797110941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ae8f0a1f14f73" /><Relationship Type="http://schemas.openxmlformats.org/officeDocument/2006/relationships/notesSlide" Target="/ppt/notesSlides/notesSlide8.xml" Id="R5816e60c8b614e3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ec1fe36b104bb2" /><Relationship Type="http://schemas.openxmlformats.org/officeDocument/2006/relationships/notesSlide" Target="/ppt/notesSlides/notesSlide9.xml" Id="R4e7ee60223d043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e733335814835" /><Relationship Type="http://schemas.openxmlformats.org/officeDocument/2006/relationships/notesSlide" Target="/ppt/notesSlides/notesSlide10.xml" Id="R7e07f5500b004f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A15AC5-3130-49AD-8965-8EAFB555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E68A4-F525-418D-B52F-EF06330A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212EF-A6A5-4C50-B272-25D14C49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8E7D7-1EFF-4A60-B3B6-3B674946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E4922-B5ED-4C5A-9BA3-3C1B42EF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B25C16-5D42-4C5E-9B9C-1B93A5F7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284AE-C96A-4F73-B49A-CFE74142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DeFi Track / Arc + USDC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05158-A5E0-40C6-9675-C16AF9A4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F0D7BB"/>
                </a:solidFill>
              </a:defRPr>
            </a:pPr>
            <a:r>
              <a:rPr sz="5850" b="1">
                <a:solidFill>
                  <a:srgbClr val="F0D7BB"/>
                </a:solidFill>
              </a:rPr>
              <a:t>TRACE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C0C3F-D04B-47AF-B529-BAF8C4AC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E7FF"/>
                </a:solidFill>
              </a:defRPr>
            </a:pPr>
            <a:r>
              <a:rPr sz="2025" b="1">
                <a:solidFill>
                  <a:srgbClr val="5BE7FF"/>
                </a:solidFill>
              </a:rPr>
              <a:t>Trusted Recipient Arc Claim Escrow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3F037-3842-48BA-A5CE-22B892405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609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B99A8D"/>
                </a:solidFill>
              </a:defRPr>
            </a:pPr>
            <a:r>
              <a:rPr sz="1950">
                <a:solidFill>
                  <a:srgbClr val="B99A8D"/>
                </a:solidFill>
              </a:rPr>
              <a:t>Claimable USDC payments to X identities on Arc.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8C3B8-265C-46B7-A71E-55702BC3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14800"/>
            <a:ext cx="2095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5240">
            <a:solidFill>
              <a:srgbClr val="B9FF3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BA050-5311-4678-9D21-35E262F6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Arc Testnet deployed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88A2CC-9243-4AB9-857D-5C493389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14800"/>
            <a:ext cx="2190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15240">
            <a:solidFill>
              <a:srgbClr val="5BE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54CCF-83C5-4939-AE3A-038281F2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81475"/>
            <a:ext cx="1885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E7FF"/>
                </a:solidFill>
              </a:defRPr>
            </a:pPr>
            <a:r>
              <a:rPr sz="975" b="1">
                <a:solidFill>
                  <a:srgbClr val="5BE7FF"/>
                </a:solidFill>
              </a:rPr>
              <a:t>Non-custodial escrow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A5793-C16B-45CD-9E02-F38C910C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52550"/>
            <a:ext cx="2952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0C0808"/>
          </a:solidFill>
          <a:ln xmlns:a="http://schemas.openxmlformats.org/drawingml/2006/main" w="15240">
            <a:solidFill>
              <a:srgbClr val="682E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915b86d874b38"/>
          <a:stretch xmlns:a="http://schemas.openxmlformats.org/drawingml/2006/main"/>
        </p:blipFill>
        <p:spPr>
          <a:xfrm xmlns:a="http://schemas.openxmlformats.org/drawingml/2006/main">
            <a:off x="7524750" y="1543050"/>
            <a:ext cx="2571750" cy="257175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CD169B-C5C2-4016-9AF7-AB91A5C0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86300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D7BB"/>
                </a:solidFill>
              </a:defRPr>
            </a:pPr>
            <a:r>
              <a:rPr sz="1350" b="1">
                <a:solidFill>
                  <a:srgbClr val="F0D7BB"/>
                </a:solidFill>
              </a:rPr>
              <a:t>send to @handle → prove X + wallet → claim USDC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75F5F0-14EF-4358-ABB8-CC6FFADB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14D99-BE62-475E-8C62-FB724F4C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93185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0626DF-C145-43D7-BEBE-5F7BF2D7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2F327-7979-4DC9-A1B3-14605F0F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3BB97-FE1D-45AD-8368-55E02CD3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F9D33D-2EDD-4D42-9FBB-514D8489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D1071-2D56-4DC8-A586-C3E4BE46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63FF9-F122-4C8F-B621-6969DBEB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4102D-F2BD-4C3F-9D01-D7219E6B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READINESS VERDICT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219BF-B4DE-464B-A560-043911BB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Ready for demo and pilot hardening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85D05E-79F5-4F45-B61C-CF478A58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Not a production launch claim yet — the deck is honest about the remaining hardening.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5A19B-2441-4640-A65A-D9FDF21C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510540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20B0D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848214-C908-4F30-A084-C6110963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38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9FF38"/>
                </a:solidFill>
              </a:defRPr>
            </a:pPr>
            <a:r>
              <a:rPr sz="1800" b="1">
                <a:solidFill>
                  <a:srgbClr val="B9FF38"/>
                </a:solidFill>
              </a:rPr>
              <a:t>What is ready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443F5-7B9D-48FF-A080-490CD557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A1170-5B40-4E55-BD5C-84395819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D7BB"/>
                </a:solidFill>
              </a:defRPr>
            </a:pPr>
            <a:r>
              <a:rPr sz="1350">
                <a:solidFill>
                  <a:srgbClr val="F0D7BB"/>
                </a:solidFill>
              </a:rPr>
              <a:t>Arc Testnet escrow deployment exists and is RPC-verified.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E9999-57D3-4BF6-A4DF-A1339EEB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2FBDB0-2B2E-470C-9D94-36677A84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2910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D7BB"/>
                </a:solidFill>
              </a:defRPr>
            </a:pPr>
            <a:r>
              <a:rPr sz="1350">
                <a:solidFill>
                  <a:srgbClr val="F0D7BB"/>
                </a:solidFill>
              </a:rPr>
              <a:t>Create, claim, cancel and expired-refund paths have transaction evidence.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93C6A7-20EB-48B6-8FCB-594A631D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BB958-68AF-4C45-8AA5-243E5207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6250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D7BB"/>
                </a:solidFill>
              </a:defRPr>
            </a:pPr>
            <a:r>
              <a:rPr sz="1350">
                <a:solidFill>
                  <a:srgbClr val="F0D7BB"/>
                </a:solidFill>
              </a:rPr>
              <a:t>37 automated tests pass across contract, API, security and wallet flows.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91C5D4-E49A-41F5-9972-EFDB159B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90850"/>
            <a:ext cx="5105400" cy="2305050"/>
          </a:xfrm>
          <a:prstGeom xmlns:a="http://schemas.openxmlformats.org/drawingml/2006/main" prst="roundRect">
            <a:avLst>
              <a:gd name="adj" fmla="val 6612"/>
            </a:avLst>
          </a:prstGeom>
          <a:solidFill xmlns:a="http://schemas.openxmlformats.org/drawingml/2006/main">
            <a:srgbClr val="120B0D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B80C0-FD56-49A0-82E0-B3AAEABF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BE7FF"/>
                </a:solidFill>
              </a:defRPr>
            </a:pPr>
            <a:r>
              <a:rPr sz="1800" b="1">
                <a:solidFill>
                  <a:srgbClr val="5BE7FF"/>
                </a:solidFill>
              </a:rPr>
              <a:t>Before real users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0A7B5F-52B5-4D30-A886-E18828E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A5EDA-00EA-41F4-9425-6F1AB7C6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D7BB"/>
                </a:solidFill>
              </a:defRPr>
            </a:pPr>
            <a:r>
              <a:rPr sz="1350">
                <a:solidFill>
                  <a:srgbClr val="F0D7BB"/>
                </a:solidFill>
              </a:rPr>
              <a:t>Publish HTTPS app, managed PostgreSQL, secrets and health monitoring.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DB1ED5-DAF7-4E59-86B5-9A81178B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05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8D03E-3B62-4676-85F4-CEFDE784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2910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D7BB"/>
                </a:solidFill>
              </a:defRPr>
            </a:pPr>
            <a:r>
              <a:rPr sz="1350">
                <a:solidFill>
                  <a:srgbClr val="F0D7BB"/>
                </a:solidFill>
              </a:rPr>
              <a:t>Run real two-X-account browser E2E with two wallets.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FB77AF-171C-4D8E-AD8F-BB61047B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38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23F6F1-FFB7-4E6E-8EE9-6A671B37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62500"/>
            <a:ext cx="4152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D7BB"/>
                </a:solidFill>
              </a:defRPr>
            </a:pPr>
            <a:r>
              <a:rPr sz="1350">
                <a:solidFill>
                  <a:srgbClr val="F0D7BB"/>
                </a:solidFill>
              </a:rPr>
              <a:t>Separate owner, verifier, treasury and deployer roles; finish external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116EBF-6DEA-419D-850B-5495A39B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EBAAA8-0284-4810-9930-76239BAF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83848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21DFD-B6E2-4648-8BE0-0A81E9DA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5C4063-9706-451C-92C5-F1DA4975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0A628-F46C-42FC-A0CB-65017965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72929-0890-49DD-A7E3-B9531E0F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349B8-63D8-4B84-99DE-15DE0A6E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60ACB-946A-4F9E-86F2-B04CAC6A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BEA13-594F-4F51-940A-F942B1E9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9AB69-D7EC-421E-822A-D9454112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Crypto payments still start with an address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47C61D-7F0E-4AB7-99B7-D2FB7EB4E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People coordinate around identity, but settlement still asks for a wallet address first.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05EF9-AEC2-4BD8-9956-E4A2425E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1813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3EDBCC-88B5-41C3-8F91-791B3ABD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90850"/>
            <a:ext cx="31813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42F69-A388-4F93-A0D9-BC39EAE1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31813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8BCE7-788C-4727-961B-5FF039AA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0D7BB"/>
                </a:solidFill>
              </a:defRPr>
            </a:pPr>
            <a:r>
              <a:rPr sz="2025" b="1">
                <a:solidFill>
                  <a:srgbClr val="F0D7BB"/>
                </a:solidFill>
              </a:rPr>
              <a:t>DM friction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AD3A9-D824-4160-883F-607CFBC51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862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B99A8D"/>
                </a:solidFill>
              </a:defRPr>
            </a:pPr>
            <a:r>
              <a:rPr sz="1425">
                <a:solidFill>
                  <a:srgbClr val="B99A8D"/>
                </a:solidFill>
              </a:rPr>
              <a:t>Payouts wait until the recipient shares an address.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D04C1-456C-4545-9C24-2E2D40A0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0D7BB"/>
                </a:solidFill>
              </a:defRPr>
            </a:pPr>
            <a:r>
              <a:rPr sz="2025" b="1">
                <a:solidFill>
                  <a:srgbClr val="F0D7BB"/>
                </a:solidFill>
              </a:rPr>
              <a:t>Address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63372A-2CC6-4993-BB3C-3784AF17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862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B99A8D"/>
                </a:solidFill>
              </a:defRPr>
            </a:pPr>
            <a:r>
              <a:rPr sz="1425">
                <a:solidFill>
                  <a:srgbClr val="B99A8D"/>
                </a:solidFill>
              </a:rPr>
              <a:t>Copy/paste errors and impersonation are easy to miss.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D4BDA-E2A6-4034-9520-6B5CA2D6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0D7BB"/>
                </a:solidFill>
              </a:defRPr>
            </a:pPr>
            <a:r>
              <a:rPr sz="2025" b="1">
                <a:solidFill>
                  <a:srgbClr val="F0D7BB"/>
                </a:solidFill>
              </a:rPr>
              <a:t>Unknown wallet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94CD5-42CA-4F01-919B-CD81DE62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886200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>
                <a:solidFill>
                  <a:srgbClr val="B99A8D"/>
                </a:solidFill>
              </a:defRPr>
            </a:pPr>
            <a:r>
              <a:rPr sz="1425">
                <a:solidFill>
                  <a:srgbClr val="B99A8D"/>
                </a:solidFill>
              </a:rPr>
              <a:t>A sender cannot safely transfer directly when only an X identity is known.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7BF8B2-E785-4468-8E2C-4F1D8405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054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FF38"/>
                </a:solidFill>
              </a:defRPr>
            </a:pPr>
            <a:r>
              <a:rPr sz="1650" b="1">
                <a:solidFill>
                  <a:srgbClr val="B9FF38"/>
                </a:solidFill>
              </a:rPr>
              <a:t>TRACE changes the destination from a wallet address to a verified recipient identity.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1C375F-0DCC-45DF-AEE7-4E8BBBC7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73BE4-7751-419B-B098-9915DC50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5820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7F1CE-EF02-4356-BE47-18189FCE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AE236-392D-44E5-AEDB-CFA48F95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EDF475-FDE5-44AA-9803-F837AD81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55A38-84E5-4000-B819-33065439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AA678-1A4F-4EAE-ACE9-890423E1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2FAF9-A1D0-4D8D-AB27-30286771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370FF-B25E-40EA-9249-1EBE8EE5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SOLUTION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DC9A4-688A-4D2F-A9A2-AAC80075F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An X account becomes a claimable USDC destination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98B77-732F-4479-9214-F3E9905F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The sender can act now; the recipient proves control later.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7DE04-B3C8-4228-84D1-1BCDCC99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42887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4A7F6-F844-4F34-BDC8-D49FD7AC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9FF38"/>
                </a:solidFill>
              </a:defRPr>
            </a:pPr>
            <a:r>
              <a:rPr sz="2400" b="1">
                <a:solidFill>
                  <a:srgbClr val="B9FF3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2F65B-B2F1-4D22-AE47-64C783A9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D7BB"/>
                </a:solidFill>
              </a:defRPr>
            </a:pPr>
            <a:r>
              <a:rPr sz="1650" b="1">
                <a:solidFill>
                  <a:srgbClr val="F0D7BB"/>
                </a:solidFill>
              </a:rPr>
              <a:t>Sender enters X handle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7039B-9946-45D9-BF1C-EB3A254E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05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B9FF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4CD8C-3A51-4889-B709-6E96FE19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43250"/>
            <a:ext cx="242887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253ADD-76D7-471A-9638-5EE99746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E7FF"/>
                </a:solidFill>
              </a:defRPr>
            </a:pPr>
            <a:r>
              <a:rPr sz="2400" b="1">
                <a:solidFill>
                  <a:srgbClr val="5BE7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9C184-8719-433A-BB95-8CDF07CC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862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D7BB"/>
                </a:solidFill>
              </a:defRPr>
            </a:pPr>
            <a:r>
              <a:rPr sz="1650" b="1">
                <a:solidFill>
                  <a:srgbClr val="F0D7BB"/>
                </a:solidFill>
              </a:rPr>
              <a:t>USDC funds Arc escrow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D71DA-49D6-4850-B6CC-6E99C159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BE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CD55F3-AB70-45A1-8C5E-2B03D508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242887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06E81-2026-4C81-AB38-BE04CA53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718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9FF38"/>
                </a:solidFill>
              </a:defRPr>
            </a:pPr>
            <a:r>
              <a:rPr sz="2400" b="1">
                <a:solidFill>
                  <a:srgbClr val="B9FF3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0F62F3-4D6F-42E5-B6D7-D80774CF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862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D7BB"/>
                </a:solidFill>
              </a:defRPr>
            </a:pPr>
            <a:r>
              <a:rPr sz="1650" b="1">
                <a:solidFill>
                  <a:srgbClr val="F0D7BB"/>
                </a:solidFill>
              </a:rPr>
              <a:t>Recipient proves X + wallet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F9ABA-A53F-45B7-9010-9413AEC8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B9F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3D2081-B82D-4306-B2DB-F0206ED1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43250"/>
            <a:ext cx="2428875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51EC9-18E3-48AB-927A-71DFD6E5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7185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BE7FF"/>
                </a:solidFill>
              </a:defRPr>
            </a:pPr>
            <a:r>
              <a:rPr sz="2400" b="1">
                <a:solidFill>
                  <a:srgbClr val="5BE7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23C16C-A5CE-40C2-90F2-E93E5BF2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86200"/>
            <a:ext cx="1952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0D7BB"/>
                </a:solidFill>
              </a:defRPr>
            </a:pPr>
            <a:r>
              <a:rPr sz="1650" b="1">
                <a:solidFill>
                  <a:srgbClr val="F0D7BB"/>
                </a:solidFill>
              </a:rPr>
              <a:t>Claim, cancel or refund settles onchain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311BE5-5FB0-4172-8C59-8BE51A82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19700"/>
            <a:ext cx="86106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C3B94-12AC-41DB-A080-BE575933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362575"/>
            <a:ext cx="803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Fail-closed rule: the backend verifies Arc receipts and matching contract events before marking funding or settlement complete.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78447B-9658-4115-B8A4-AB2C01B8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554EA1-15B7-44F2-B9BF-A4F5B534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0021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998365-DCDD-4425-9748-EB86B54C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70C9A-175F-4986-9505-C5610B0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7F80E-ACF5-4D51-A948-30FF6554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D84C2-6B19-4CE0-8904-0182D282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7D10C-2FD0-423B-97F6-1D006EC0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5AFC4-8AF0-4D49-ADDE-608CA605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C393A-AA19-4EE6-82E9-8F02FCDE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TRACK FIT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63521-716B-492B-98DE-CEEC2852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The DeFi fit is programmable stablecoin settlement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2D361-44EA-4941-9A6E-840420FD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TRACE uses Arc + USDC for conditional payment flows, cancellation policy, expiry and fee routing.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5EC1B-B7D6-4ABA-8740-6AC5EB06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455295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D7DBE-5CEF-4058-A725-AFBDBEBE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BE7FF"/>
                </a:solidFill>
              </a:defRPr>
            </a:pPr>
            <a:r>
              <a:rPr sz="1875" b="1">
                <a:solidFill>
                  <a:srgbClr val="5BE7FF"/>
                </a:solidFill>
              </a:rPr>
              <a:t>Arc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0046A1-1E73-4EF6-817B-0BE52CD2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814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Settlement layer, testnet execution, and USDC-denominated 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55871-E8AD-430E-8FF2-7228A670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28950"/>
            <a:ext cx="455295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007B2-968E-4D70-BD15-680CDCEF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FF38"/>
                </a:solidFill>
              </a:defRPr>
            </a:pPr>
            <a:r>
              <a:rPr sz="1875" b="1">
                <a:solidFill>
                  <a:srgbClr val="B9FF38"/>
                </a:solidFill>
              </a:rPr>
              <a:t>USDC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2CF0B6-E5AE-4F94-A8C5-20E499FD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Escrow principal, protocol fee asset and payment unit.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55C1D-98A2-4C9A-AB1A-39C7C936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57700"/>
            <a:ext cx="455295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66F17D-2E12-425E-8D28-BD9410C1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BE7FF"/>
                </a:solidFill>
              </a:defRPr>
            </a:pPr>
            <a:r>
              <a:rPr sz="1875" b="1">
                <a:solidFill>
                  <a:srgbClr val="5BE7FF"/>
                </a:solidFill>
              </a:rPr>
              <a:t>Programmability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A9300-4E03-4217-976F-C2982995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Identity-bound claim authorization, cancellation policy, expiry and refund.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9F11C-ECED-4C81-A8ED-9B4CFBF5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457700"/>
            <a:ext cx="4552950" cy="1085850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17DE6-7A4D-431A-BAE5-AC4FE72C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FF38"/>
                </a:solidFill>
              </a:defRPr>
            </a:pPr>
            <a:r>
              <a:rPr sz="1875" b="1">
                <a:solidFill>
                  <a:srgbClr val="B9FF38"/>
                </a:solidFill>
              </a:rPr>
              <a:t>Treasury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DEDB45-EA06-47B8-A3F7-C5227998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10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9A8D"/>
                </a:solidFill>
              </a:defRPr>
            </a:pPr>
            <a:r>
              <a:rPr sz="1275">
                <a:solidFill>
                  <a:srgbClr val="B99A8D"/>
                </a:solidFill>
              </a:rPr>
              <a:t>Mandatory fee routed onchain while principal remains recoverable.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ACE621-EE8C-4959-94BB-BAB03E0D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BBCC6-71BD-4C6B-BD53-22CDB0F5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752911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3FFC1-47EC-444C-85B3-012D258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40B00-28DC-4EBE-99DE-E299378B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E0209-3017-4137-B318-85AE6E11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B7F5B-4D07-4F85-A18B-A80D560A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166DF4-916B-4331-829A-FBA41C62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25BE9-BDCE-48AE-8129-AB1BAA04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CF5F2-033B-48D7-8BAE-61918C36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ABF58-9F8D-43E2-AA16-9AD65164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Trust is split between identity policy and onchain custody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25988-5EB3-42AA-A814-04272325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Database state is useful for UX; Arc transactions are the source of truth for funds and settlement.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19E259-482A-428F-B0E2-34AD9FFA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1336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F1BA66-C379-4494-8638-261CD695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81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9FF38"/>
                </a:solidFill>
              </a:defRPr>
            </a:pPr>
            <a:r>
              <a:rPr sz="1800" b="1">
                <a:solidFill>
                  <a:srgbClr val="B9FF38"/>
                </a:solidFill>
              </a:rPr>
              <a:t>Browser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3D2F7-9A42-4B6F-A904-124DF551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195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99A8D"/>
                </a:solidFill>
              </a:defRPr>
            </a:pPr>
            <a:r>
              <a:rPr sz="1200">
                <a:solidFill>
                  <a:srgbClr val="B99A8D"/>
                </a:solidFill>
              </a:rPr>
              <a:t>wallet + X session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6CA67-561A-4475-841F-938E4641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52800"/>
            <a:ext cx="21336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CC9F0-2C88-4157-8B72-C398B23B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81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E7FF"/>
                </a:solidFill>
              </a:defRPr>
            </a:pPr>
            <a:r>
              <a:rPr sz="1800" b="1">
                <a:solidFill>
                  <a:srgbClr val="5BE7FF"/>
                </a:solidFill>
              </a:rPr>
              <a:t>TRACE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42EAA-6C57-4877-B66F-F3790144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195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99A8D"/>
                </a:solidFill>
              </a:defRPr>
            </a:pPr>
            <a:r>
              <a:rPr sz="1200">
                <a:solidFill>
                  <a:srgbClr val="B99A8D"/>
                </a:solidFill>
              </a:rPr>
              <a:t>OAuth, policy, receipt checks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7B1B75-EA01-4BCF-9D6A-ABD6D7FD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52800"/>
            <a:ext cx="21336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47C8A8-C6E2-42EF-B883-D212E7C35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9FF38"/>
                </a:solidFill>
              </a:defRPr>
            </a:pPr>
            <a:r>
              <a:rPr sz="1800" b="1">
                <a:solidFill>
                  <a:srgbClr val="B9FF38"/>
                </a:solidFill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5419B-EC5D-4544-8610-1F1D3456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195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99A8D"/>
                </a:solidFill>
              </a:defRPr>
            </a:pPr>
            <a:r>
              <a:rPr sz="1200">
                <a:solidFill>
                  <a:srgbClr val="B99A8D"/>
                </a:solidFill>
              </a:rPr>
              <a:t>sessions, payments, audit, indexer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37B18-A0C7-45FD-889A-50292B12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52800"/>
            <a:ext cx="21336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0E5976-B8EA-4754-854E-AF8D0A2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814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BE7FF"/>
                </a:solidFill>
              </a:defRPr>
            </a:pPr>
            <a:r>
              <a:rPr sz="1800" b="1">
                <a:solidFill>
                  <a:srgbClr val="5BE7FF"/>
                </a:solidFill>
              </a:rPr>
              <a:t>Arc Escrow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8AB4D-9428-4A77-A0A7-F8EDF75E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19550"/>
            <a:ext cx="179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B99A8D"/>
                </a:solidFill>
              </a:defRPr>
            </a:pPr>
            <a:r>
              <a:rPr sz="1200">
                <a:solidFill>
                  <a:srgbClr val="B99A8D"/>
                </a:solidFill>
              </a:rPr>
              <a:t>USDC custody and lifecycle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12D9EB-99A1-423A-A67F-51615E84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B9FF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40609D-97C5-44E5-97D1-0C4BEB74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814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5BE7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1A8C68-BCF0-4FC9-B800-58AD797E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814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B9FF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59AD90-1E41-48AF-91D2-0AD8F7B9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5780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9FF38"/>
                </a:solidFill>
              </a:defRPr>
            </a:pPr>
            <a:r>
              <a:rPr sz="1650" b="1">
                <a:solidFill>
                  <a:srgbClr val="B9FF38"/>
                </a:solidFill>
              </a:rPr>
              <a:t>Invariant: only verified Arc transactions fund or settle a payment.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06BE9A-7E8F-4EF3-9575-CF9BE232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26DD6-0B42-4FB5-B332-73168644F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769050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BDA62D-628D-4217-BBF5-445C1613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466C5-DB58-4C57-BDC1-A9F43AC6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64543-BEF0-4C7B-9CBE-AD38A8D6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30787-B2D2-4D90-A9BE-D8EB09CC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3A382-92C9-49F0-9B08-061C536A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79061-29F5-4775-ADB0-CAAF203F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4C1C3-7765-4361-9093-CBD28A54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SECURITY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0246-67DE-4BCD-8A26-C15480BD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Security centers on proof binding and recovery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F3E86-66B4-420C-B617-BCAF604C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The model is designed around a narrow claim authority and sender recovery paths.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6B4741-8996-46DC-BF92-87085AA1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933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DC802-71A2-4B8B-9FC7-98D45BDF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FF38"/>
                </a:solidFill>
              </a:defRPr>
            </a:pPr>
            <a:r>
              <a:rPr sz="1425" b="1">
                <a:solidFill>
                  <a:srgbClr val="B9FF38"/>
                </a:solidFill>
              </a:rPr>
              <a:t>Recipient 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5D210-E2C0-4B16-9CB6-B4842169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Fresh X OAuth must match the immutable recipient X user ID.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2F73E-CE9F-42F6-8513-8956AAFE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95600"/>
            <a:ext cx="4933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03CAC4-686C-441B-B5D9-C8EC24E2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E7FF"/>
                </a:solidFill>
              </a:defRPr>
            </a:pPr>
            <a:r>
              <a:rPr sz="1425" b="1">
                <a:solidFill>
                  <a:srgbClr val="5BE7FF"/>
                </a:solidFill>
              </a:rPr>
              <a:t>Wallet 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9A6B7-C805-4500-A412-C42DCE94B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289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A one-time signed challenge binds the destination wallet to the session.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EECA3-143E-4C7C-B55F-03844D91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67150"/>
            <a:ext cx="4933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4B639C-9FD2-4F4B-B98F-E0D802C7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FF38"/>
                </a:solidFill>
              </a:defRPr>
            </a:pPr>
            <a:r>
              <a:rPr sz="1425" b="1">
                <a:solidFill>
                  <a:srgbClr val="B9FF38"/>
                </a:solidFill>
              </a:rPr>
              <a:t>Claim digest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B9DBC-F37D-4931-A5BC-2CB7895E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00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Authorization binds payment ID, wallet, chain ID, contract and expiry.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ED209-2733-4B45-8DDB-FF2F4BA5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4933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2D168-8621-49A8-B01B-B9D49F2B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E7FF"/>
                </a:solidFill>
              </a:defRPr>
            </a:pPr>
            <a:r>
              <a:rPr sz="1425" b="1">
                <a:solidFill>
                  <a:srgbClr val="5BE7FF"/>
                </a:solidFill>
              </a:rPr>
              <a:t>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8F91E1-6B03-43F9-B66E-BE78EF30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Sender cancel/refund remains available under contract policy.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CAF419-1534-4B32-9C93-D1DE93E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38700"/>
            <a:ext cx="4933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3AF03D-3ADC-4969-91F7-96E77791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FF38"/>
                </a:solidFill>
              </a:defRPr>
            </a:pPr>
            <a:r>
              <a:rPr sz="1425" b="1">
                <a:solidFill>
                  <a:srgbClr val="B9FF38"/>
                </a:solidFill>
              </a:rPr>
              <a:t>Privacy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DAB44B-843A-43F8-BF21-77C498F7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9720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Unauthorized API views omit amount, sender and memo; chain activity remains public.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6ED3A8-B613-42E3-BA0D-7A1CC6E3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49339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72205-5DEF-45DE-90C7-FA902843D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E7FF"/>
                </a:solidFill>
              </a:defRPr>
            </a:pPr>
            <a:r>
              <a:rPr sz="1425" b="1">
                <a:solidFill>
                  <a:srgbClr val="5BE7FF"/>
                </a:solidFill>
              </a:rPr>
              <a:t>Production gap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7D9919-E3A4-4A2F-AA48-07495986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B99A8D"/>
                </a:solidFill>
              </a:defRPr>
            </a:pPr>
            <a:r>
              <a:rPr sz="1163">
                <a:solidFill>
                  <a:srgbClr val="B99A8D"/>
                </a:solidFill>
              </a:rPr>
              <a:t>External contract/backend review and managed key custody remain required.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56B6DD-93C8-4CB8-9858-E0586552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8A28A-4A8A-42ED-884B-AE7C8C15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121057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291C17-2CC4-4071-BB8B-634DCCFE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F1556-629A-46D8-87A7-E11DE5E2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ABD4C-A0EB-4FF5-9F03-B22D4917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30C38F-331C-4097-9D63-9687D192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BCA7F-1D68-45AA-B2C0-904F8281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E647D-91F2-400D-A68D-F705958A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D0EC58-0783-4415-A20C-C9133345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CURRENT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C68C0-450F-457A-8488-CCE69901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Evidence exists; public proof is the final packaging step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93B93-2169-4C57-B626-C0AAE3C7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Keep the big proof visible and put long hashes in the README / explorer links.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9735F-E6E7-4705-B4EF-CB0B7A8A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3241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3335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12739-95D6-4216-84C3-49E5C0B0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FF38"/>
                </a:solidFill>
              </a:defRPr>
            </a:pPr>
            <a:r>
              <a:rPr sz="2850" b="1">
                <a:solidFill>
                  <a:srgbClr val="B9FF38"/>
                </a:solidFill>
              </a:rPr>
              <a:t>37 / 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AE9C7-3C17-4379-8FE7-EDA0FE41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9A8D"/>
                </a:solidFill>
              </a:defRPr>
            </a:pPr>
            <a:r>
              <a:rPr sz="1125">
                <a:solidFill>
                  <a:srgbClr val="B99A8D"/>
                </a:solidFill>
              </a:rPr>
              <a:t>automated tests passing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AA457-630B-4377-9F57-BDD60CDD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3241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3335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86ED1-E0EC-42A5-9131-7462CCA4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BE7FF"/>
                </a:solidFill>
              </a:defRPr>
            </a:pPr>
            <a:r>
              <a:rPr sz="2850" b="1">
                <a:solidFill>
                  <a:srgbClr val="5BE7FF"/>
                </a:solidFill>
              </a:rPr>
              <a:t>5042002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FDE80-1EFD-4301-B328-26166ADD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9A8D"/>
                </a:solidFill>
              </a:defRPr>
            </a:pPr>
            <a:r>
              <a:rPr sz="1125">
                <a:solidFill>
                  <a:srgbClr val="B99A8D"/>
                </a:solidFill>
              </a:rPr>
              <a:t>Arc Testnet chain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47FEC8-C1D7-491A-8624-C2974624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28950"/>
            <a:ext cx="23241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3335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1DFA8-0B38-44A7-A8B0-12639A68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385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B9FF38"/>
                </a:solidFill>
              </a:defRPr>
            </a:pPr>
            <a:r>
              <a:rPr sz="2850" b="1">
                <a:solidFill>
                  <a:srgbClr val="B9FF38"/>
                </a:solidFill>
              </a:rPr>
              <a:t>0.50%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3CE134-936F-4C93-88B9-64674C37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9A8D"/>
                </a:solidFill>
              </a:defRPr>
            </a:pPr>
            <a:r>
              <a:rPr sz="1125">
                <a:solidFill>
                  <a:srgbClr val="B99A8D"/>
                </a:solidFill>
              </a:rPr>
              <a:t>minimum protocol fee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C9E4B5-71BD-43C5-9ED5-9AD446A3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23241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3335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EC571F-389D-4094-86C4-E6B64591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3850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5BE7FF"/>
                </a:solidFill>
              </a:defRPr>
            </a:pPr>
            <a:r>
              <a:rPr sz="2850" b="1">
                <a:solidFill>
                  <a:srgbClr val="5BE7FF"/>
                </a:solidFill>
              </a:rPr>
              <a:t>3 flows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51684-DAC4-44A8-9209-CE22A5B6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3380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B99A8D"/>
                </a:solidFill>
              </a:defRPr>
            </a:pPr>
            <a:r>
              <a:rPr sz="1125">
                <a:solidFill>
                  <a:srgbClr val="B99A8D"/>
                </a:solidFill>
              </a:rPr>
              <a:t>claim, cancel, refund smoke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5776E-C4D5-482E-A1F5-ABBA74E2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061085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20B0D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580A5A-C6A5-4ADC-8A8E-07D99C0B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768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FF38"/>
                </a:solidFill>
              </a:defRPr>
            </a:pPr>
            <a:r>
              <a:rPr sz="1275" b="1">
                <a:solidFill>
                  <a:srgbClr val="B9FF38"/>
                </a:solidFill>
              </a:rPr>
              <a:t>Contract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8B81E-1D4D-44AD-8155-3340DE7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67275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0D7BB"/>
                </a:solidFill>
              </a:defRPr>
            </a:pPr>
            <a:r>
              <a:rPr sz="1350">
                <a:solidFill>
                  <a:srgbClr val="F0D7BB"/>
                </a:solidFill>
              </a:rPr>
              <a:t>0x5A3949aE67a37e7e37bFC77F5b7832Cc93f40A2a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944EC6-A143-48AD-8FB2-E563DDA1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625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7E6661"/>
                </a:solidFill>
              </a:defRPr>
            </a:pPr>
            <a:r>
              <a:rPr sz="1200">
                <a:solidFill>
                  <a:srgbClr val="7E6661"/>
                </a:solidFill>
              </a:rPr>
              <a:t>Deployment tx: 0xa3f80c8e…d9c97e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6A8887-2E3A-4806-89DB-FCC9C9BD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C3C140-C75A-4497-8523-7C1565C7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34468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5DC731-87E9-4575-A756-C174F495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5FB7A0-5CB5-4A16-BB5D-28FFF3D1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0B5C69-372D-4F32-8A2D-AD17D952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D1EDB-C79F-4BEA-9656-ACBDBE66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42D7C-ECD4-4FED-B541-AC142D7A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A319C-AA4B-4A4B-A4CD-8143B7C9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3A7B30-5FAE-4F93-8CC6-7F3D24E3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DEMO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488D9F-D528-4EFF-B4EC-A60C0731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The judge demo should show the full lifecycle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975720-30CF-4498-88D4-B44FC1D5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A clean six-step path shows the product without pretending missing infrastructure is ready.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DAD18-043A-4F09-9336-08AFCFB5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8F926-C0B4-4173-AA7D-6E5CEE9A6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52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5642E7-180B-422B-A513-EC1CF0EF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200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7BB"/>
                </a:solidFill>
              </a:defRPr>
            </a:pPr>
            <a:r>
              <a:rPr sz="1425" b="1">
                <a:solidFill>
                  <a:srgbClr val="F0D7BB"/>
                </a:solidFill>
              </a:rPr>
              <a:t>Enter X handle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57322-ED8D-4D7E-A6BC-4D241C53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3370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7973A1-5E73-4FBE-BEF7-941CDB84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52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BE7FF"/>
                </a:solidFill>
              </a:defRPr>
            </a:pPr>
            <a:r>
              <a:rPr sz="2100" b="1">
                <a:solidFill>
                  <a:srgbClr val="5BE7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B1281-2431-4CF2-A0CE-613D1898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00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7BB"/>
                </a:solidFill>
              </a:defRPr>
            </a:pPr>
            <a:r>
              <a:rPr sz="1425" b="1">
                <a:solidFill>
                  <a:srgbClr val="F0D7BB"/>
                </a:solidFill>
              </a:rPr>
              <a:t>Approve + create escrow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4590C-E23A-48EE-9867-40FA5D4C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3370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61DBB-1928-472B-B2AC-A2C85295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527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23A61-7CD7-4672-9A83-5AEE0370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7BB"/>
                </a:solidFill>
              </a:defRPr>
            </a:pPr>
            <a:r>
              <a:rPr sz="1425" b="1">
                <a:solidFill>
                  <a:srgbClr val="F0D7BB"/>
                </a:solidFill>
              </a:rPr>
              <a:t>Open claim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2A624C-ABAA-4FAA-9EBE-4A422C4C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719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323B8E-45A8-40D5-8380-826816D8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910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BE7FF"/>
                </a:solidFill>
              </a:defRPr>
            </a:pPr>
            <a:r>
              <a:rPr sz="2100" b="1">
                <a:solidFill>
                  <a:srgbClr val="5BE7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F3D38-8DCB-44F7-9386-35872398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7BB"/>
                </a:solidFill>
              </a:defRPr>
            </a:pPr>
            <a:r>
              <a:rPr sz="1425" b="1">
                <a:solidFill>
                  <a:srgbClr val="F0D7BB"/>
                </a:solidFill>
              </a:rPr>
              <a:t>Prove X + wallet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C591D-6E8A-4371-818D-B0FB0A8A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90F8D-FD17-4D80-9D1E-F199C4D2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910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FF38"/>
                </a:solidFill>
              </a:defRPr>
            </a:pPr>
            <a:r>
              <a:rPr sz="2100" b="1">
                <a:solidFill>
                  <a:srgbClr val="B9FF38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B9E7D-6C5E-49E6-BA0E-5379E81D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438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7BB"/>
                </a:solidFill>
              </a:defRPr>
            </a:pPr>
            <a:r>
              <a:rPr sz="1425" b="1">
                <a:solidFill>
                  <a:srgbClr val="F0D7BB"/>
                </a:solidFill>
              </a:rPr>
              <a:t>Claim USDC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7DF629-A15C-4053-8974-E46F5267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71950"/>
            <a:ext cx="2857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1430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6D7E6-751F-4BB7-B610-46D10EC0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9102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BE7FF"/>
                </a:solidFill>
              </a:defRPr>
            </a:pPr>
            <a:r>
              <a:rPr sz="2100" b="1">
                <a:solidFill>
                  <a:srgbClr val="5BE7FF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8F028E-6D79-4C2A-A2E1-B53B9BAE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38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0D7BB"/>
                </a:solidFill>
              </a:defRPr>
            </a:pPr>
            <a:r>
              <a:rPr sz="1425" b="1">
                <a:solidFill>
                  <a:srgbClr val="F0D7BB"/>
                </a:solidFill>
              </a:rPr>
              <a:t>Show cancel/refund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30C20A-25F7-464D-92C5-2B4C403A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467350"/>
            <a:ext cx="80391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80808"/>
          </a:solidFill>
          <a:ln xmlns:a="http://schemas.openxmlformats.org/drawingml/2006/main" w="11430">
            <a:solidFill>
              <a:srgbClr val="682E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EF17D3-7EF9-4442-98A5-1AFC7B21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591175"/>
            <a:ext cx="750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>
                <a:solidFill>
                  <a:srgbClr val="B99A8D"/>
                </a:solidFill>
              </a:defRPr>
            </a:pPr>
            <a:r>
              <a:rPr sz="1238">
                <a:solidFill>
                  <a:srgbClr val="B99A8D"/>
                </a:solidFill>
              </a:rPr>
              <a:t>Demo rule: never simulate success. If X, DB, RPC or contract config is missing, fail closed and show the blocker.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804370-D444-424F-A9D3-5092D4BD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C2C042-C3BE-4F89-8C55-1FC2F1BF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1658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50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86D1FB-E928-4D60-94E7-21B0359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50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3D63FC-98A5-4862-B104-A27B5C8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75013-321A-4854-9673-87283D65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4360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3C586-2FFB-4145-947F-E5C80D9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2E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7D8DC-2AA1-4A61-B061-C205EF96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47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F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52A48-5980-4F47-9AF9-1627E9A1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29350"/>
            <a:ext cx="1285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CC1196-EA2B-4A39-B33B-B2393BB1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NEXT STEPS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5342D-12B2-40F8-BF87-D1A47589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858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0D7BB"/>
                </a:solidFill>
              </a:defRPr>
            </a:pPr>
            <a:r>
              <a:rPr sz="3300" b="1">
                <a:solidFill>
                  <a:srgbClr val="F0D7BB"/>
                </a:solidFill>
              </a:rPr>
              <a:t>The next milestone is a public testnet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EDD89-B873-4354-8521-B89D5763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B99A8D"/>
                </a:solidFill>
              </a:defRPr>
            </a:pPr>
            <a:r>
              <a:rPr sz="1500">
                <a:solidFill>
                  <a:srgbClr val="B99A8D"/>
                </a:solidFill>
              </a:rPr>
              <a:t>The submission story: DeFi payment infrastructure, technically proven on testnet, ready for public hardening.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F43C3-A889-4F6C-804E-D9F83892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30289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2E91E-EDF3-4E0F-8C5E-224447A7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FF38"/>
                </a:solidFill>
              </a:defRPr>
            </a:pPr>
            <a:r>
              <a:rPr sz="2550" b="1">
                <a:solidFill>
                  <a:srgbClr val="B9FF3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B7053-705D-40D1-8FA1-2E37F87B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0D7BB"/>
                </a:solidFill>
              </a:defRPr>
            </a:pPr>
            <a:r>
              <a:rPr sz="1950" b="1">
                <a:solidFill>
                  <a:srgbClr val="F0D7BB"/>
                </a:solidFill>
              </a:rPr>
              <a:t>Publish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F4E54-275A-4D75-9D9B-E242BE00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GitHub repo, CI output, HTTPS demo and release tag.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F2527-56AF-4F0E-9BB5-104A8925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28950"/>
            <a:ext cx="30289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5B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5BF079-4E17-4404-A355-EF5BDC54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BE7FF"/>
                </a:solidFill>
              </a:defRPr>
            </a:pPr>
            <a:r>
              <a:rPr sz="2550" b="1">
                <a:solidFill>
                  <a:srgbClr val="5BE7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073A5-1832-47D3-90BF-0E9A3F0F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0D7BB"/>
                </a:solidFill>
              </a:defRPr>
            </a:pPr>
            <a:r>
              <a:rPr sz="1950" b="1">
                <a:solidFill>
                  <a:srgbClr val="F0D7BB"/>
                </a:solidFill>
              </a:rPr>
              <a:t>Verify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6DCBA-083D-45CE-8631-CD9140A7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8145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Arcscan source verification, two-account X E2E and reviewer video.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49651-6AF1-4935-9758-AB90A66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30289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B0D11"/>
          </a:solidFill>
          <a:ln xmlns:a="http://schemas.openxmlformats.org/drawingml/2006/main" w="14288">
            <a:solidFill>
              <a:srgbClr val="B9FF3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DB7E9D-B185-4765-AD31-58E8EEE3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76600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B9FF38"/>
                </a:solidFill>
              </a:defRPr>
            </a:pPr>
            <a:r>
              <a:rPr sz="2550" b="1">
                <a:solidFill>
                  <a:srgbClr val="B9FF38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042A6-FE15-45C6-A869-8E3FA33D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0D7BB"/>
                </a:solidFill>
              </a:defRPr>
            </a:pPr>
            <a:r>
              <a:rPr sz="1950" b="1">
                <a:solidFill>
                  <a:srgbClr val="F0D7BB"/>
                </a:solidFill>
              </a:rPr>
              <a:t>Harden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030AB-B046-4059-9684-97DC8DF8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457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B99A8D"/>
                </a:solidFill>
              </a:defRPr>
            </a:pPr>
            <a:r>
              <a:rPr sz="1350">
                <a:solidFill>
                  <a:srgbClr val="B99A8D"/>
                </a:solidFill>
              </a:rPr>
              <a:t>Role separation, managed signer, monitoring and external security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6418FB-C9CE-4465-9996-572EEBDD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10200"/>
            <a:ext cx="925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9FF38"/>
                </a:solidFill>
              </a:defRPr>
            </a:pPr>
            <a:r>
              <a:rPr sz="1575" b="1">
                <a:solidFill>
                  <a:srgbClr val="B9FF38"/>
                </a:solidFill>
              </a:rPr>
              <a:t>Decision: proceed as a DeFi Track submission and testnet pilot — not as a production launch claim.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E8E2B-07E3-4228-8C6C-F4921502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00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7E6661"/>
                </a:solidFill>
              </a:defRPr>
            </a:pPr>
            <a:r>
              <a:rPr sz="975" b="1">
                <a:solidFill>
                  <a:srgbClr val="7E6661"/>
                </a:solidFill>
              </a:rPr>
              <a:t>TRACE — Trusted Recipient Arc Claim Escrow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DDEC98-DFFB-404E-B694-0B1E4E42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3817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9FF38"/>
                </a:solidFill>
              </a:defRPr>
            </a:pPr>
            <a:r>
              <a:rPr sz="975" b="1">
                <a:solidFill>
                  <a:srgbClr val="B9FF38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1633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2026-07-24T08:39:03.5670000Z</dcterms:created>
  <dcterms:modified xsi:type="dcterms:W3CDTF">2026-07-24T08:39:03.5670000Z</dcterms:modified>
</coreProperties>
</file>