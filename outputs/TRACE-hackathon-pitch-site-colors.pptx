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4e8372c3ec4991" /><Relationship Type="http://schemas.openxmlformats.org/officeDocument/2006/relationships/extended-properties" Target="/docProps/app.xml" Id="Rb06b7c6a6d59443e" /><Relationship Type="http://schemas.openxmlformats.org/officeDocument/2006/relationships/officeDocument" Target="/ppt/presentation.xml" Id="Ref8eb1946d1a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4c181cfe7940f4"/>
  </p:sldMasterIdLst>
  <p:notesMasterIdLst>
    <p:notesMasterId xmlns:r="http://schemas.openxmlformats.org/officeDocument/2006/relationships" r:id="Ref30cca6a6a449dc"/>
  </p:notesMasterIdLst>
  <p:sldIdLst>
    <p:sldId xmlns:r="http://schemas.openxmlformats.org/officeDocument/2006/relationships" id="256" r:id="Re45dfd0048634cc3"/>
    <p:sldId xmlns:r="http://schemas.openxmlformats.org/officeDocument/2006/relationships" id="257" r:id="Rd80d9cab0fa54072"/>
    <p:sldId xmlns:r="http://schemas.openxmlformats.org/officeDocument/2006/relationships" id="258" r:id="R82755f3c516544dd"/>
    <p:sldId xmlns:r="http://schemas.openxmlformats.org/officeDocument/2006/relationships" id="259" r:id="Rf1834fb56e2a4d2e"/>
    <p:sldId xmlns:r="http://schemas.openxmlformats.org/officeDocument/2006/relationships" id="260" r:id="R3ab6c7ba57bf4666"/>
    <p:sldId xmlns:r="http://schemas.openxmlformats.org/officeDocument/2006/relationships" id="261" r:id="R190effeafc514d11"/>
    <p:sldId xmlns:r="http://schemas.openxmlformats.org/officeDocument/2006/relationships" id="262" r:id="R92655791886f4002"/>
    <p:sldId xmlns:r="http://schemas.openxmlformats.org/officeDocument/2006/relationships" id="263" r:id="Rf890442fff414243"/>
    <p:sldId xmlns:r="http://schemas.openxmlformats.org/officeDocument/2006/relationships" id="264" r:id="Rfa19ae86ee154c4a"/>
    <p:sldId xmlns:r="http://schemas.openxmlformats.org/officeDocument/2006/relationships" id="265" r:id="Re0ffdb8349bd46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803789a9c455d" /><Relationship Type="http://schemas.openxmlformats.org/officeDocument/2006/relationships/slideMaster" Target="/ppt/slideMasters/slideMaster1.xml" Id="Rf54c181cfe7940f4" /><Relationship Type="http://schemas.openxmlformats.org/officeDocument/2006/relationships/notesMaster" Target="/ppt/notesMasters/notesMaster1.xml" Id="Ref30cca6a6a449dc" /><Relationship Type="http://schemas.openxmlformats.org/officeDocument/2006/relationships/presProps" Target="/ppt/presProps.xml" Id="Re98b698f6f4e41d2" /><Relationship Type="http://schemas.openxmlformats.org/officeDocument/2006/relationships/tableStyles" Target="/ppt/tableStyles.xml" Id="R3b13238b5c1d4fbb" /><Relationship Type="http://schemas.openxmlformats.org/officeDocument/2006/relationships/slide" Target="/ppt/slides/slide1.xml" Id="Re45dfd0048634cc3" /><Relationship Type="http://schemas.openxmlformats.org/officeDocument/2006/relationships/slide" Target="/ppt/slides/slide2.xml" Id="Rd80d9cab0fa54072" /><Relationship Type="http://schemas.openxmlformats.org/officeDocument/2006/relationships/slide" Target="/ppt/slides/slide3.xml" Id="R82755f3c516544dd" /><Relationship Type="http://schemas.openxmlformats.org/officeDocument/2006/relationships/slide" Target="/ppt/slides/slide4.xml" Id="Rf1834fb56e2a4d2e" /><Relationship Type="http://schemas.openxmlformats.org/officeDocument/2006/relationships/slide" Target="/ppt/slides/slide5.xml" Id="R3ab6c7ba57bf4666" /><Relationship Type="http://schemas.openxmlformats.org/officeDocument/2006/relationships/slide" Target="/ppt/slides/slide6.xml" Id="R190effeafc514d11" /><Relationship Type="http://schemas.openxmlformats.org/officeDocument/2006/relationships/slide" Target="/ppt/slides/slide7.xml" Id="R92655791886f4002" /><Relationship Type="http://schemas.openxmlformats.org/officeDocument/2006/relationships/slide" Target="/ppt/slides/slide8.xml" Id="Rf890442fff414243" /><Relationship Type="http://schemas.openxmlformats.org/officeDocument/2006/relationships/slide" Target="/ppt/slides/slide9.xml" Id="Rfa19ae86ee154c4a" /><Relationship Type="http://schemas.openxmlformats.org/officeDocument/2006/relationships/slide" Target="/ppt/slides/slide10.xml" Id="Re0ffdb8349bd46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f6f893936741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3eb177f6a749f3" /><Relationship Type="http://schemas.openxmlformats.org/officeDocument/2006/relationships/notesMaster" Target="/ppt/notesMasters/notesMaster1.xml" Id="Rc250d11d9b0f40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6abc87ccd04196" /><Relationship Type="http://schemas.openxmlformats.org/officeDocument/2006/relationships/notesMaster" Target="/ppt/notesMasters/notesMaster1.xml" Id="R5d2265d1748f4e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ac49648c64c58" /><Relationship Type="http://schemas.openxmlformats.org/officeDocument/2006/relationships/notesMaster" Target="/ppt/notesMasters/notesMaster1.xml" Id="Ra6198865c58546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9fb4eba29d4b7c" /><Relationship Type="http://schemas.openxmlformats.org/officeDocument/2006/relationships/notesMaster" Target="/ppt/notesMasters/notesMaster1.xml" Id="R7514cb9e04b24a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2478ca00a64374" /><Relationship Type="http://schemas.openxmlformats.org/officeDocument/2006/relationships/notesMaster" Target="/ppt/notesMasters/notesMaster1.xml" Id="R59e728d06c6a4f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c259961e7a48f6" /><Relationship Type="http://schemas.openxmlformats.org/officeDocument/2006/relationships/notesMaster" Target="/ppt/notesMasters/notesMaster1.xml" Id="Rdd2b5ea8df2044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544e33d7f04563" /><Relationship Type="http://schemas.openxmlformats.org/officeDocument/2006/relationships/notesMaster" Target="/ppt/notesMasters/notesMaster1.xml" Id="R4183199688d34a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033f9dcce347f0" /><Relationship Type="http://schemas.openxmlformats.org/officeDocument/2006/relationships/notesMaster" Target="/ppt/notesMasters/notesMaster1.xml" Id="R5ec26af9c76f48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11b849853b4120" /><Relationship Type="http://schemas.openxmlformats.org/officeDocument/2006/relationships/notesMaster" Target="/ppt/notesMasters/notesMaster1.xml" Id="R89dc2a326c9a4b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31b4cd4b8e48e6" /><Relationship Type="http://schemas.openxmlformats.org/officeDocument/2006/relationships/notesMaster" Target="/ppt/notesMasters/notesMaster1.xml" Id="Rcc8b9593496845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repo: project name, product description and generated logo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repo and product description: problem framing around wallet-address coordination.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browser screenshot captured from http://127.0.0.1:4174/index.html.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repo: escrow lifecycle and API verification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Comparison is framed as product-pattern differentiation, not a sourced market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repo: use of Arc testnet, USDC-denominated escrow flow and fee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repo: security model, API authorization and contract lifecycle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outputs and repo evidence: automated tests, chain id, fee, smoke flows and deployed contract address.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readiness assessment and known production gaps.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TRACE roadmap and user-specified final slide: ask / next milestone, without a team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0fb0f5713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5b7e8dc6b14712" /><Relationship Type="http://schemas.openxmlformats.org/officeDocument/2006/relationships/slideLayout" Target="/ppt/slideLayouts/slideLayout1.xml" Id="Rd654090453e94a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54090453e94a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85281b8b9436a" /><Relationship Type="http://schemas.openxmlformats.org/officeDocument/2006/relationships/image" Target="/ppt/media/image.jpeg" Id="R97d8d2505774490a" /><Relationship Type="http://schemas.openxmlformats.org/officeDocument/2006/relationships/notesSlide" Target="/ppt/notesSlides/notesSlide1.xml" Id="R790f582834ce4b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5dca88df74692" /><Relationship Type="http://schemas.openxmlformats.org/officeDocument/2006/relationships/notesSlide" Target="/ppt/notesSlides/notesSlide2.xml" Id="R02d1cf82965145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e8991c19e4d1c" /><Relationship Type="http://schemas.openxmlformats.org/officeDocument/2006/relationships/image" Target="/ppt/media/image2.jpeg" Id="Rcc9ae94eaec542e5" /><Relationship Type="http://schemas.openxmlformats.org/officeDocument/2006/relationships/notesSlide" Target="/ppt/notesSlides/notesSlide3.xml" Id="Refb80c0261ab48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02e2127194adb" /><Relationship Type="http://schemas.openxmlformats.org/officeDocument/2006/relationships/notesSlide" Target="/ppt/notesSlides/notesSlide4.xml" Id="R8f5749fa7d2f43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c5e482e20442b" /><Relationship Type="http://schemas.openxmlformats.org/officeDocument/2006/relationships/notesSlide" Target="/ppt/notesSlides/notesSlide5.xml" Id="R2fcfb3157e7140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1fcb1e15647d7" /><Relationship Type="http://schemas.openxmlformats.org/officeDocument/2006/relationships/notesSlide" Target="/ppt/notesSlides/notesSlide6.xml" Id="R0b5f7e20b3ff42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009ea501e44a1" /><Relationship Type="http://schemas.openxmlformats.org/officeDocument/2006/relationships/notesSlide" Target="/ppt/notesSlides/notesSlide7.xml" Id="R3538ec680d5340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e65fd81b54f52" /><Relationship Type="http://schemas.openxmlformats.org/officeDocument/2006/relationships/notesSlide" Target="/ppt/notesSlides/notesSlide8.xml" Id="R9d2a170f9a0f4b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1530660d84546" /><Relationship Type="http://schemas.openxmlformats.org/officeDocument/2006/relationships/notesSlide" Target="/ppt/notesSlides/notesSlide9.xml" Id="R6bcf9288b7d242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6fc13a44f4827" /><Relationship Type="http://schemas.openxmlformats.org/officeDocument/2006/relationships/notesSlide" Target="/ppt/notesSlides/notesSlide10.xml" Id="Re5a52a31a2bd46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9A16C-F439-42CF-A173-954393FF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61180-BB54-4AD5-A317-D2F63B7A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49AED-749D-466E-9C54-A62CEF99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E8034-B26D-492A-B3F2-9C3CAAD5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28294-C268-445F-919C-F634B271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23251-FB4D-42FC-B576-1BFF8756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C9D56-BE69-40B2-A885-50289EE3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DeFi Track / Arc + USDC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99571-7B02-4952-B0B9-7A05B94E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0D7BB"/>
                </a:solidFill>
              </a:defRPr>
            </a:pPr>
            <a:r>
              <a:rPr sz="5850" b="1">
                <a:solidFill>
                  <a:srgbClr val="F0D7BB"/>
                </a:solidFill>
              </a:rPr>
              <a:t>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D41BF-747A-4992-B3B7-5D74D6CA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BE7FF"/>
                </a:solidFill>
              </a:defRPr>
            </a:pPr>
            <a:r>
              <a:rPr sz="2025" b="1">
                <a:solidFill>
                  <a:srgbClr val="5BE7FF"/>
                </a:solidFill>
              </a:rPr>
              <a:t>Trusted Recipient Arc Claim Escrow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E9659-9D38-4060-9758-5AD74F60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9A8D"/>
                </a:solidFill>
              </a:defRPr>
            </a:pPr>
            <a:r>
              <a:rPr sz="1950">
                <a:solidFill>
                  <a:srgbClr val="B99A8D"/>
                </a:solidFill>
              </a:rPr>
              <a:t>Claimable USDC payments to X identities on Arc.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E77AA-BA7A-4749-8264-2E57DBE3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808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0CD3A-51E2-43C7-8551-7374F84D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1314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send to @handle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88013-ACF7-432F-82B3-EE8EF340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767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808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16148-9F94-4869-AA5F-6C775DB3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43375"/>
            <a:ext cx="1504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E7FF"/>
                </a:solidFill>
              </a:defRPr>
            </a:pPr>
            <a:r>
              <a:rPr sz="975" b="1">
                <a:solidFill>
                  <a:srgbClr val="5BE7FF"/>
                </a:solidFill>
              </a:rPr>
              <a:t>prove X + wallet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FDD69-12F8-49E5-9345-8A87CEF8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767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808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36307-0212-4528-AEE9-345C6D7B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43375"/>
            <a:ext cx="1123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claim USDC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BFFC0-B29B-4FA0-B861-46366638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90650"/>
            <a:ext cx="2895600" cy="28956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C0808"/>
          </a:solidFill>
          <a:ln xmlns:a="http://schemas.openxmlformats.org/drawingml/2006/main" w="15240">
            <a:solidFill>
              <a:srgbClr val="682E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8d2505774490a"/>
          <a:stretch xmlns:a="http://schemas.openxmlformats.org/drawingml/2006/main"/>
        </p:blipFill>
        <p:spPr>
          <a:xfrm xmlns:a="http://schemas.openxmlformats.org/drawingml/2006/main">
            <a:off x="7639050" y="1581150"/>
            <a:ext cx="2514600" cy="25146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D352D4-9B17-4A3E-B971-CCA0DE90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D7BB"/>
                </a:solidFill>
              </a:defRPr>
            </a:pPr>
            <a:r>
              <a:rPr sz="1425" b="1">
                <a:solidFill>
                  <a:srgbClr val="F0D7BB"/>
                </a:solidFill>
              </a:rPr>
              <a:t>A payment primitive for recipients whose wallet address is not known yet.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FB7BA-16AC-483B-A06F-9FCDF325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40559-378E-4D63-B2E7-1B8EC2D8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4840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44997-E726-4026-BB00-E34CE059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74CFD-44BD-4DE6-B59D-01AC7A6F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EE842-191E-4ED1-9CD8-56515525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06985-0070-47BC-865C-F41859D0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F3428-2F97-449F-9F93-352C26A5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B1083-259A-404A-9178-01DA964A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875E3-0B60-487A-8584-E6FA8AE9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DF6DC-86FD-4A03-817E-07EEB14B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D7BB"/>
                </a:solidFill>
              </a:defRPr>
            </a:pPr>
            <a:r>
              <a:rPr sz="2700" b="1">
                <a:solidFill>
                  <a:srgbClr val="F0D7BB"/>
                </a:solidFill>
              </a:rPr>
              <a:t>Crypto payments still start with an address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7065B-F1E7-47B6-8939-E7763719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The sender often knows the person or account, not the wallet.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B60B2-E0FF-427A-BD19-588B9B1C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30289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F04D2-4C21-43A4-A084-3B56638C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D7BB"/>
                </a:solidFill>
              </a:defRPr>
            </a:pPr>
            <a:r>
              <a:rPr sz="1800" b="1">
                <a:solidFill>
                  <a:srgbClr val="F0D7BB"/>
                </a:solidFill>
              </a:rPr>
              <a:t>The payout stalls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C9211-AB0B-44F0-8B63-9A35B7E5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A recipient must share an address before money can move.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933D2-0983-400F-8A03-66AB0CE2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30289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FE5A3-F09A-4192-842E-A0ABDB7D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861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D7BB"/>
                </a:solidFill>
              </a:defRPr>
            </a:pPr>
            <a:r>
              <a:rPr sz="1800" b="1">
                <a:solidFill>
                  <a:srgbClr val="F0D7BB"/>
                </a:solidFill>
              </a:rPr>
              <a:t>The address can be wrong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1D5F2-8602-4FE5-A642-3D431494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767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Copy/paste mistakes and impersonation are hard to recover from.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FFCCA-F577-4E57-AEAA-264D6333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62300"/>
            <a:ext cx="30289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9F4C7-16C8-44B6-A37D-C6CD5B0A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0D7BB"/>
                </a:solidFill>
              </a:defRPr>
            </a:pPr>
            <a:r>
              <a:rPr sz="1800" b="1">
                <a:solidFill>
                  <a:srgbClr val="F0D7BB"/>
                </a:solidFill>
              </a:rPr>
              <a:t>The sender has no safe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E122E-7535-46AC-96F0-ADE63B9C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A social identity is visible; a verified destination wallet is not.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86E0D0-349E-45B4-A6EF-2000FCBC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6735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FF38"/>
                </a:solidFill>
              </a:defRPr>
            </a:pPr>
            <a:r>
              <a:rPr sz="1650" b="1">
                <a:solidFill>
                  <a:srgbClr val="B9FF38"/>
                </a:solidFill>
              </a:rPr>
              <a:t>TRACE shifts the starting point from wallet address to verified recipient identity.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5CE45-08E8-47AF-9946-50FE4CB8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182DA-A3E1-4879-8669-4E0146C1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3844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FBDF60-DA08-4338-B4D3-7BE175D0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1C8CE-442B-494F-8054-692A21EF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0DA2E-9E2D-49E9-B1C2-8E12FC0F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C54AC-6387-442C-9095-02B8AE51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1BD1E-3659-4DE3-9B66-5C4466C3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6DB85-7AA9-45C1-9CAB-72BD9764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FF8AA-8213-4051-A286-7EBA7B38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PRODUCT / UI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66EEE0-A690-41F6-B9B2-CD089644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D7BB"/>
                </a:solidFill>
              </a:defRPr>
            </a:pPr>
            <a:r>
              <a:rPr sz="2700" b="1">
                <a:solidFill>
                  <a:srgbClr val="F0D7BB"/>
                </a:solidFill>
              </a:rPr>
              <a:t>The product makes the recipient searchable before a wallet is 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42232-C1FA-487C-A8CA-D9EF624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The demo starts with identity selection, then moves into escrow creation and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3C8D00-9AC7-438A-A6FF-B8C25638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70485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120B0D"/>
          </a:solidFill>
          <a:ln xmlns:a="http://schemas.openxmlformats.org/drawingml/2006/main" w="1524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ae94eaec542e5"/>
          <a:srcRect xmlns:a="http://schemas.openxmlformats.org/drawingml/2006/main" l="0" t="10823" r="0" b="10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971800"/>
            <a:ext cx="6781800" cy="299085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F4995-D28F-4ABE-B8A5-7D127722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124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7EDBA-E01A-4B97-8728-14156A7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FF38"/>
                </a:solidFill>
              </a:defRPr>
            </a:pPr>
            <a:r>
              <a:rPr sz="1800" b="1">
                <a:solidFill>
                  <a:srgbClr val="B9FF38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EF857-CEA5-4656-9FD5-18124584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19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D7BB"/>
                </a:solidFill>
              </a:defRPr>
            </a:pPr>
            <a:r>
              <a:rPr sz="1350" b="1">
                <a:solidFill>
                  <a:srgbClr val="F0D7BB"/>
                </a:solidFill>
              </a:rPr>
              <a:t>Pick an X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64568-C47F-4310-9A9D-1058C9C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124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B08134-ACBF-4F5C-A174-B7AD272D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719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BE7FF"/>
                </a:solidFill>
              </a:defRPr>
            </a:pPr>
            <a:r>
              <a:rPr sz="1800" b="1">
                <a:solidFill>
                  <a:srgbClr val="5BE7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92DBB-033D-4025-BDB7-5A123873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004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D7BB"/>
                </a:solidFill>
              </a:defRPr>
            </a:pPr>
            <a:r>
              <a:rPr sz="1350" b="1">
                <a:solidFill>
                  <a:srgbClr val="F0D7BB"/>
                </a:solidFill>
              </a:rPr>
              <a:t>Create Arc escrow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9DCC1-0038-425B-895C-F4382470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9600"/>
            <a:ext cx="3124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FFA5E-36E9-4760-BB51-73F81199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529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FF38"/>
                </a:solidFill>
              </a:defRPr>
            </a:pPr>
            <a:r>
              <a:rPr sz="1800" b="1">
                <a:solidFill>
                  <a:srgbClr val="B9FF3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50A7E-5CB3-46E3-A2F5-18D08D28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815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D7BB"/>
                </a:solidFill>
              </a:defRPr>
            </a:pPr>
            <a:r>
              <a:rPr sz="1350" b="1">
                <a:solidFill>
                  <a:srgbClr val="F0D7BB"/>
                </a:solidFill>
              </a:rPr>
              <a:t>Recipient proves X + wallet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4CDEC-A54F-4FFE-95F3-3EB41661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00650"/>
            <a:ext cx="3124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A1974-A0B9-409E-925E-68476986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334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BE7FF"/>
                </a:solidFill>
              </a:defRPr>
            </a:pPr>
            <a:r>
              <a:rPr sz="1800" b="1">
                <a:solidFill>
                  <a:srgbClr val="5BE7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884398-1604-4C40-B5DE-5EFD69A0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625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D7BB"/>
                </a:solidFill>
              </a:defRPr>
            </a:pPr>
            <a:r>
              <a:rPr sz="1350" b="1">
                <a:solidFill>
                  <a:srgbClr val="F0D7BB"/>
                </a:solidFill>
              </a:rPr>
              <a:t>Claim, cancel or refund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9647A5-2842-4819-8196-D1CEE04C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C540B-0A88-433E-89AE-D061B538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0183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B1F05F-20A3-4F20-8D30-57E38AC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4460A-C32E-4BB5-89A6-3AD3DE39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834AC-7E29-4B84-B557-696D1556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DDE9D-726D-4AB6-9196-96CEEC58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C0884-C7EA-4D78-B1E3-07490041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11A30-0674-4967-AF07-BF6AB173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F8693-C1B2-41D8-AE26-735AFAA7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SOLUTION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32EC1-2DCC-405D-9270-B0AC971D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D7BB"/>
                </a:solidFill>
              </a:defRPr>
            </a:pPr>
            <a:r>
              <a:rPr sz="2700" b="1">
                <a:solidFill>
                  <a:srgbClr val="F0D7BB"/>
                </a:solidFill>
              </a:rPr>
              <a:t>TRACE turns a handle into a claimable USDC destination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AAECF-CCB8-493B-80D3-EEBDA72F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Funds wait in a non-custodial escrow until the right recipient proves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0D070-9014-4903-9CF8-EA18B8A0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481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B9F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37519-2DC4-462F-8A3E-3197E64F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343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36EB5-801A-4879-BDCA-FC0D983A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9FF38"/>
                </a:solidFill>
              </a:defRPr>
            </a:pPr>
            <a:r>
              <a:rPr sz="1875" b="1">
                <a:solidFill>
                  <a:srgbClr val="B9FF38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C8EFB-6598-4679-B062-86FC28C9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0D7BB"/>
                </a:solidFill>
              </a:defRPr>
            </a:pPr>
            <a:r>
              <a:rPr sz="1425">
                <a:solidFill>
                  <a:srgbClr val="F0D7BB"/>
                </a:solidFill>
              </a:rPr>
              <a:t>enters X handle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F1623-90B1-4D5E-B817-413ED97E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481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BE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49985-1130-44D5-AE08-D9499F40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05150"/>
            <a:ext cx="2343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B3991-453A-42CE-8761-C39DE590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909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E7FF"/>
                </a:solidFill>
              </a:defRPr>
            </a:pPr>
            <a:r>
              <a:rPr sz="1875" b="1">
                <a:solidFill>
                  <a:srgbClr val="5BE7FF"/>
                </a:solidFill>
              </a:rPr>
              <a:t>Arc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8FC6C-9F1A-4A0C-B821-98BC3B6F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05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0D7BB"/>
                </a:solidFill>
              </a:defRPr>
            </a:pPr>
            <a:r>
              <a:rPr sz="1425">
                <a:solidFill>
                  <a:srgbClr val="F0D7BB"/>
                </a:solidFill>
              </a:rPr>
              <a:t>holds funded USDC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5462A-7F30-4F90-9C85-FAFE96C0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B9FF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15409-E8A1-42C4-B26B-D35C710B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2343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0C657F-F9F9-41D3-99BF-66E9306B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9FF38"/>
                </a:solidFill>
              </a:defRPr>
            </a:pPr>
            <a:r>
              <a:rPr sz="1875" b="1">
                <a:solidFill>
                  <a:srgbClr val="B9FF38"/>
                </a:solidFill>
              </a:rPr>
              <a:t>Recipient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B0612-E062-4E4B-A05C-BDE6AA0D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0D7BB"/>
                </a:solidFill>
              </a:defRPr>
            </a:pPr>
            <a:r>
              <a:rPr sz="1425">
                <a:solidFill>
                  <a:srgbClr val="F0D7BB"/>
                </a:solidFill>
              </a:rPr>
              <a:t>proves X + wallet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D497A-97B3-406E-8060-66C9C1E6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23431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20B5C-2621-446F-A6C9-DA79F66A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909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E7FF"/>
                </a:solidFill>
              </a:defRPr>
            </a:pPr>
            <a:r>
              <a:rPr sz="1875" b="1">
                <a:solidFill>
                  <a:srgbClr val="5BE7FF"/>
                </a:solidFill>
              </a:rPr>
              <a:t>Settlement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F283E-C300-47AA-B202-EDA3C802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05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0D7BB"/>
                </a:solidFill>
              </a:defRPr>
            </a:pPr>
            <a:r>
              <a:rPr sz="1425">
                <a:solidFill>
                  <a:srgbClr val="F0D7BB"/>
                </a:solidFill>
              </a:rPr>
              <a:t>claim / cancel / refund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1BEC96-2585-471A-84F6-B039F6FB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0808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F8DC43-5AB0-43BF-B446-965FAC20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00675"/>
            <a:ext cx="784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9A8D"/>
                </a:solidFill>
              </a:defRPr>
            </a:pPr>
            <a:r>
              <a:rPr sz="1350" b="1">
                <a:solidFill>
                  <a:srgbClr val="B99A8D"/>
                </a:solidFill>
              </a:rPr>
              <a:t>The backend indexes and verifies; the contract controls custody and lifecycle.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2938E-FEE3-4119-A8DC-F55DA1FA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A1B9B1-D384-4AE4-860D-E7F0C53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5153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2EC2A9-4389-4ED2-9D1B-D3DD5715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94169-A438-4E34-BB8F-1B41C269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86B18-E13B-4ABC-993F-54B96ACC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F5F7E-2829-443C-A5DC-65C3DDD2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19204-3233-4832-8B28-BCB50D0C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9D5F9-9E2D-43FE-9E47-B7BC0245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0E8DC-74B9-4B93-AC42-C4B00DCA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WHY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E874D-B96A-4B0C-802E-12EA2E22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D7BB"/>
                </a:solidFill>
              </a:defRPr>
            </a:pPr>
            <a:r>
              <a:rPr sz="2700" b="1">
                <a:solidFill>
                  <a:srgbClr val="F0D7BB"/>
                </a:solidFill>
              </a:rPr>
              <a:t>TRACE is built for claimable settlement, not just address lookup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419BB-FC6C-4A62-AB0E-7A7178F1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The difference is the cancel/expiry/claim lifecycle around USDC custody.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789C0-EB33-449D-AFCB-38EC3DEA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Pattern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B8913-52B1-414B-93ED-ED00B9C6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Strength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383D8-E47D-4683-B3A7-E744C6BD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Gap / TRACE 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C78CF-C067-4DCF-A8CB-8BA5AE71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05537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AA5F4-7CD3-4E47-81B8-1B173B5C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956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D7BB"/>
                </a:solidFill>
              </a:defRPr>
            </a:pPr>
            <a:r>
              <a:rPr sz="1275" b="1">
                <a:solidFill>
                  <a:srgbClr val="F0D7BB"/>
                </a:solidFill>
              </a:rPr>
              <a:t>Direct wallet transfer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54220-786A-42A3-B51B-286016CC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956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9A8D"/>
                </a:solidFill>
              </a:defRPr>
            </a:pPr>
            <a:r>
              <a:rPr sz="1200">
                <a:solidFill>
                  <a:srgbClr val="B99A8D"/>
                </a:solidFill>
              </a:rPr>
              <a:t>Fast when the address is known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9861B-CF84-4098-B280-1B9EA751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956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9A8D"/>
                </a:solidFill>
              </a:defRPr>
            </a:pPr>
            <a:r>
              <a:rPr sz="1200" b="0">
                <a:solidFill>
                  <a:srgbClr val="B99A8D"/>
                </a:solidFill>
              </a:rPr>
              <a:t>Fails before onboarding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1F9A5-B9E5-48AE-9232-CB51D4BB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05537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D214E-A1E0-4AD7-BEAB-08980860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862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D7BB"/>
                </a:solidFill>
              </a:defRPr>
            </a:pPr>
            <a:r>
              <a:rPr sz="1275" b="1">
                <a:solidFill>
                  <a:srgbClr val="F0D7BB"/>
                </a:solidFill>
              </a:rPr>
              <a:t>Custodial handle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47D49-ADF2-46BA-8EB9-DE6C0240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862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9A8D"/>
                </a:solidFill>
              </a:defRPr>
            </a:pPr>
            <a:r>
              <a:rPr sz="1200">
                <a:solidFill>
                  <a:srgbClr val="B99A8D"/>
                </a:solidFill>
              </a:rPr>
              <a:t>Simple UX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2BB90-B942-4335-81A2-D56772C9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9A8D"/>
                </a:solidFill>
              </a:defRPr>
            </a:pPr>
            <a:r>
              <a:rPr sz="1200" b="0">
                <a:solidFill>
                  <a:srgbClr val="B99A8D"/>
                </a:solidFill>
              </a:rPr>
              <a:t>Requires platform custody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B1E25-01AD-4F6F-8F3B-361372AC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14B5E-CD5B-4383-A0B2-2361E337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D7BB"/>
                </a:solidFill>
              </a:defRPr>
            </a:pPr>
            <a:r>
              <a:rPr sz="1275" b="1">
                <a:solidFill>
                  <a:srgbClr val="F0D7BB"/>
                </a:solidFill>
              </a:rPr>
              <a:t>Social payment wrapper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34633-6024-4BC2-A29C-D33FCFD9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767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9A8D"/>
                </a:solidFill>
              </a:defRPr>
            </a:pPr>
            <a:r>
              <a:rPr sz="1200">
                <a:solidFill>
                  <a:srgbClr val="B99A8D"/>
                </a:solidFill>
              </a:rPr>
              <a:t>Feels familiar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FD8B6-FF01-43E2-809E-A719D46D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767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9A8D"/>
                </a:solidFill>
              </a:defRPr>
            </a:pPr>
            <a:r>
              <a:rPr sz="1200" b="0">
                <a:solidFill>
                  <a:srgbClr val="B99A8D"/>
                </a:solidFill>
              </a:rPr>
              <a:t>Often hides the onchain lifecycle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5BD76-4B0D-4009-A445-AE335EFE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05537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200C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66DC7-4F74-4E64-80E7-36EC926B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FF38"/>
                </a:solidFill>
              </a:defRPr>
            </a:pPr>
            <a:r>
              <a:rPr sz="1275" b="1">
                <a:solidFill>
                  <a:srgbClr val="B9FF38"/>
                </a:solidFill>
              </a:rPr>
              <a:t>TRACE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04BA1A-612F-4C47-ABA2-968167C0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673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99A8D"/>
                </a:solidFill>
              </a:defRPr>
            </a:pPr>
            <a:r>
              <a:rPr sz="1200">
                <a:solidFill>
                  <a:srgbClr val="B99A8D"/>
                </a:solidFill>
              </a:rPr>
              <a:t>Send now, prove later, recover if needed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5DF4D-B67E-4A4C-B486-C8BE2DBE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67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D7BB"/>
                </a:solidFill>
              </a:defRPr>
            </a:pPr>
            <a:r>
              <a:rPr sz="1200" b="1">
                <a:solidFill>
                  <a:srgbClr val="F0D7BB"/>
                </a:solidFill>
              </a:rPr>
              <a:t>Non-custodial escrow on Arc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0A997-9842-479B-9880-73FC9F63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CA979-A184-44BB-8249-1270361F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3612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ECF34-A520-4CE0-A314-7136B392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859FE-AB34-4CE9-BAE6-A0ECE07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89562-12BD-4ECD-94AC-F12567E8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B0095-4A7B-46BE-A6D4-61866893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75071-B7C9-452A-B0A0-FE430EAB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FE459-F0D3-4605-8DBA-E1B96C1F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F2631-BDEC-4523-B010-6FE430B4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ARC + USDC DEFI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56F96-F32A-44B6-A222-4248442F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D7BB"/>
                </a:solidFill>
              </a:defRPr>
            </a:pPr>
            <a:r>
              <a:rPr sz="2700" b="1">
                <a:solidFill>
                  <a:srgbClr val="F0D7BB"/>
                </a:solidFill>
              </a:rPr>
              <a:t>The DeFi primitive is programmable stablecoin settlement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2BEE9-B050-4C13-BA3B-9E0DB28B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TRACE uses stablecoin custody, fee routing and lifecycle policy as the product core.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DD660-4837-4071-8192-BB8CF3EF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495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C78D7-BE09-4A2C-8895-3C14CBDA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BE7FF"/>
                </a:solidFill>
              </a:defRPr>
            </a:pPr>
            <a:r>
              <a:rPr sz="1875" b="1">
                <a:solidFill>
                  <a:srgbClr val="5BE7FF"/>
                </a:solidFill>
              </a:rPr>
              <a:t>Arc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B2592-1E46-4C4B-853F-94D18E68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Stablecoin-native execution and fast testnet settlement.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5651E-1391-4521-BD65-EDEECDB7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4495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9158F-9C00-44BA-B70E-E7E1DFC2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FF38"/>
                </a:solidFill>
              </a:defRPr>
            </a:pPr>
            <a:r>
              <a:rPr sz="1875" b="1">
                <a:solidFill>
                  <a:srgbClr val="B9FF38"/>
                </a:solidFill>
              </a:rPr>
              <a:t>USDC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D4024-B25F-44ED-857A-788FEE7B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4802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Principal, claim asset and protocol fee unit.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2031F-D6BD-4DF1-A23E-B15C8286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4495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28D68-0CE5-4AD7-B675-0DE58646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0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BE7FF"/>
                </a:solidFill>
              </a:defRPr>
            </a:pPr>
            <a:r>
              <a:rPr sz="1875" b="1">
                <a:solidFill>
                  <a:srgbClr val="5BE7FF"/>
                </a:solidFill>
              </a:rPr>
              <a:t>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A435C-9E42-43AD-AF71-DB0D9DC3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005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Identity-bound authorization, cancellation and expiry.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67CE6-F630-4F35-AC57-7F2EB01E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4495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C9E88-2654-4B83-A9D5-CD1EA2FF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FF38"/>
                </a:solidFill>
              </a:defRPr>
            </a:pPr>
            <a:r>
              <a:rPr sz="1875" b="1">
                <a:solidFill>
                  <a:srgbClr val="B9FF38"/>
                </a:solidFill>
              </a:rPr>
              <a:t>Treasury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D0236-B2B9-41BB-873E-52BAD581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005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Fee routing happens onchain while principal remains recoverable.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8D286-4671-4D58-BDCD-644ED458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C14ED-5BC1-4326-B424-8AE34AC9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68727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6763C6-78E6-4973-A7FA-CA38D82D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34DEA-1A94-4F0A-AA67-D2AFF3B1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E5C22-2099-4233-B686-6CF3C2D7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CD12C-41E1-435D-9502-A88EE60B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5E3F4-8E81-4AF4-A212-C06C7B1D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3E542-3E0E-4A56-8310-60F0CAA1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ADE3A-6F63-49F9-A5B5-F1ED5F9B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SECURITY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C81D6-3F07-4E5E-85F6-3A5C8E71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D7BB"/>
                </a:solidFill>
              </a:defRPr>
            </a:pPr>
            <a:r>
              <a:rPr sz="2700" b="1">
                <a:solidFill>
                  <a:srgbClr val="F0D7BB"/>
                </a:solidFill>
              </a:rPr>
              <a:t>The claim is valid only when identity, wallet and digest agree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8BFF9-EDCC-43E0-945D-BB312317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The system is designed to fail closed if proof or chain state is missing.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E4FB8-2024-4139-8C78-BE6C1F02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933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44D31-3347-4479-9CD0-B8E883DB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Recipient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0592C-22C6-4C72-B2A5-6B8E7E3C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718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X OAuth must match the immutable recipient user ID.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D2FF1-3F88-46DB-A1D2-A893F612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933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67DCF-0A13-478B-B265-23A14BEB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813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E7FF"/>
                </a:solidFill>
              </a:defRPr>
            </a:pPr>
            <a:r>
              <a:rPr sz="1350" b="1">
                <a:solidFill>
                  <a:srgbClr val="5BE7FF"/>
                </a:solidFill>
              </a:rPr>
              <a:t>Wallet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02055-7497-41C7-AAE5-A0030864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A signed challenge binds the destination wallet to the session.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55236-5D4C-451B-A573-E681B685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4933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C306B-C437-4BC9-A232-D72D227C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766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Claim digest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60114-F3E6-47D6-83A2-6C202B6E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671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Authorization binds payment, wallet, chain, contract and expiry.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9A7BF-5AD9-406D-BF5D-B4123F0A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4933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20C8E-2AD1-45BA-98D8-46898230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766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E7FF"/>
                </a:solidFill>
              </a:defRPr>
            </a:pPr>
            <a:r>
              <a:rPr sz="1350" b="1">
                <a:solidFill>
                  <a:srgbClr val="5BE7FF"/>
                </a:solidFill>
              </a:rPr>
              <a:t>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5F5E6-8FC9-4BFC-A634-C7ED8A05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671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Sender cancel/refund remains available under policy.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35DD4-CB1D-4586-8C18-39E9BC64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4933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D22A8-E503-45BC-BF0C-9DDE487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720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Privacy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41DF90-A631-425D-939D-77C06A25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625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Unauthorized API views omit sensitive payment details.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DAE23-21F3-4307-8C21-9BBD0FE0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48200"/>
            <a:ext cx="49339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D000D-6E0C-4120-B70D-DB95AF7E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E7FF"/>
                </a:solidFill>
              </a:defRPr>
            </a:pPr>
            <a:r>
              <a:rPr sz="1350" b="1">
                <a:solidFill>
                  <a:srgbClr val="5BE7FF"/>
                </a:solidFill>
              </a:rPr>
              <a:t>Production gap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62295-6846-4524-B062-3A5F7970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External review and role separation remain required.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C8BE4-BF99-4470-97A4-3BF290C0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296DCF-CA26-499D-A0B1-2917AFF7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47365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E3BC3C-A0A6-4A57-BDDE-08507DCF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04725-53A0-485D-8BCD-4647EE56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1FE53-8156-46C7-9E2B-DFA06781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0C202-A6E6-4EF9-A8E5-F3A4B428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C6C02-7808-4975-81E0-84849B37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500C7-E807-480B-9004-C9F5270E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4F0F8-42B8-41DB-A0D6-69BDDAFF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D5AA6-6E80-49DD-9385-1D9F01C0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D7BB"/>
                </a:solidFill>
              </a:defRPr>
            </a:pPr>
            <a:r>
              <a:rPr sz="2700" b="1">
                <a:solidFill>
                  <a:srgbClr val="F0D7BB"/>
                </a:solidFill>
              </a:rPr>
              <a:t>The working proof is already testable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5DF0D-5B10-4B66-8AE5-70CBEDA2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Keep long hashes out of the pitch; link them from the README and explorer.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48A7F-611B-4C8A-B263-C334AE9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324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58188-B84D-483B-A541-E7DCE606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FF38"/>
                </a:solidFill>
              </a:defRPr>
            </a:pPr>
            <a:r>
              <a:rPr sz="2850" b="1">
                <a:solidFill>
                  <a:srgbClr val="B9FF38"/>
                </a:solidFill>
              </a:rPr>
              <a:t>37 / 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1146B-22CF-4C28-BE6F-A2E579FE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9A8D"/>
                </a:solidFill>
              </a:defRPr>
            </a:pPr>
            <a:r>
              <a:rPr sz="1125">
                <a:solidFill>
                  <a:srgbClr val="B99A8D"/>
                </a:solidFill>
              </a:rPr>
              <a:t>automated tests passing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77D85-1530-40A9-843D-9DCEE883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2324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0F114-8718-4D79-B4ED-7CD9ED29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BE7FF"/>
                </a:solidFill>
              </a:defRPr>
            </a:pPr>
            <a:r>
              <a:rPr sz="2850" b="1">
                <a:solidFill>
                  <a:srgbClr val="5BE7FF"/>
                </a:solidFill>
              </a:rPr>
              <a:t>5042002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AFCE7-02E9-468B-8033-4CB2B6C0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338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9A8D"/>
                </a:solidFill>
              </a:defRPr>
            </a:pPr>
            <a:r>
              <a:rPr sz="1125">
                <a:solidFill>
                  <a:srgbClr val="B99A8D"/>
                </a:solidFill>
              </a:rPr>
              <a:t>Arc Testnet chain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21870-46D6-4DFC-B780-D6D7B309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2324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F7E0F-0F3F-4A35-82C9-53A5F36F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FF38"/>
                </a:solidFill>
              </a:defRPr>
            </a:pPr>
            <a:r>
              <a:rPr sz="2850" b="1">
                <a:solidFill>
                  <a:srgbClr val="B9FF38"/>
                </a:solidFill>
              </a:rPr>
              <a:t>0.50%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B1E41-7DD0-4A39-9F64-C60AC5FA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9A8D"/>
                </a:solidFill>
              </a:defRPr>
            </a:pPr>
            <a:r>
              <a:rPr sz="1125">
                <a:solidFill>
                  <a:srgbClr val="B99A8D"/>
                </a:solidFill>
              </a:rPr>
              <a:t>minimum protocol fee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BC46D-2D1A-4D92-8520-13FA5C0F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90850"/>
            <a:ext cx="2324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E3F39-9E34-43F4-9FB8-324626DB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194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BE7FF"/>
                </a:solidFill>
              </a:defRPr>
            </a:pPr>
            <a:r>
              <a:rPr sz="2850" b="1">
                <a:solidFill>
                  <a:srgbClr val="5BE7FF"/>
                </a:solidFill>
              </a:rPr>
              <a:t>3 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25C3D-2BAF-4695-8C43-5BB1A48D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33800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9A8D"/>
                </a:solidFill>
              </a:defRPr>
            </a:pPr>
            <a:r>
              <a:rPr sz="1125">
                <a:solidFill>
                  <a:srgbClr val="B99A8D"/>
                </a:solidFill>
              </a:rPr>
              <a:t>claim, cancel, refund smoke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3A8F2-7FC6-4F76-9A6D-BA8A25B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0610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0B0D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D9460-5317-4200-816E-09ABE5A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91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FF38"/>
                </a:solidFill>
              </a:defRPr>
            </a:pPr>
            <a:r>
              <a:rPr sz="1350" b="1">
                <a:solidFill>
                  <a:srgbClr val="B9FF38"/>
                </a:solidFill>
              </a:rPr>
              <a:t>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420A96-E4B7-46A6-B3A8-D242FB0C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815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0D7BB"/>
                </a:solidFill>
              </a:defRPr>
            </a:pPr>
            <a:r>
              <a:rPr sz="1425">
                <a:solidFill>
                  <a:srgbClr val="F0D7BB"/>
                </a:solidFill>
              </a:rPr>
              <a:t>0x5A3949aE67a37e7e37bFC77F5b7832Cc93f40A2a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CEC3A-83EE-4A0C-B52E-5E64654E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B23EBF-5A7A-41E9-B228-7260D113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12191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4835C6-9872-4D84-8BF0-D3B8F3B3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D1D6F-7601-41E5-813F-093D5B2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39916-2497-4C43-904F-2303AC26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C2D30-9F92-4A60-B6EC-AF20D8E8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05CBD-AC4D-4CBA-A12A-9EF697FC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206CE-14F7-46C5-9DB4-044D32F3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2FF2-0622-48A1-9B1A-2EDF2E27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READINESS / RISKS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5CE9A-6C3A-47B4-A9C8-472DA45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D7BB"/>
                </a:solidFill>
              </a:defRPr>
            </a:pPr>
            <a:r>
              <a:rPr sz="2700" b="1">
                <a:solidFill>
                  <a:srgbClr val="F0D7BB"/>
                </a:solidFill>
              </a:rPr>
              <a:t>Ready for demo; honest about production hardening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88F67-212F-4BF9-944C-C8BB9F54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The important risks are known, visible and bounded as next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59A29-9A20-4741-91F0-946594C6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162300" cy="1962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D837A-B221-433D-8D50-33EBFF55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76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FF38"/>
                </a:solidFill>
              </a:defRPr>
            </a:pPr>
            <a:r>
              <a:rPr sz="1875" b="1">
                <a:solidFill>
                  <a:srgbClr val="B9FF38"/>
                </a:solidFill>
              </a:rPr>
              <a:t>Ready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A1016-6A20-498A-8E96-A0A33132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C0E8A-8A97-4D0B-A2C4-5496D96B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0D7BB"/>
                </a:solidFill>
              </a:defRPr>
            </a:pPr>
            <a:r>
              <a:rPr sz="1275">
                <a:solidFill>
                  <a:srgbClr val="F0D7BB"/>
                </a:solidFill>
              </a:rPr>
              <a:t>Arc Testnet escrow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CDC21-6D4D-405A-B84F-C244B4D3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1EDE4-0E6B-4BF1-B49B-30A0F3BC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0D7BB"/>
                </a:solidFill>
              </a:defRPr>
            </a:pPr>
            <a:r>
              <a:rPr sz="1275">
                <a:solidFill>
                  <a:srgbClr val="F0D7BB"/>
                </a:solidFill>
              </a:rPr>
              <a:t>Core lifecycle transaction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CA3BA-CEB7-4E21-9E57-5DA9AE03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90850"/>
            <a:ext cx="3162300" cy="1962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767F9-4391-4CC9-B38B-DDD4C42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76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BE7FF"/>
                </a:solidFill>
              </a:defRPr>
            </a:pPr>
            <a:r>
              <a:rPr sz="1875" b="1">
                <a:solidFill>
                  <a:srgbClr val="5BE7FF"/>
                </a:solidFill>
              </a:rPr>
              <a:t>Main risks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E0C09-FBC9-4F67-B8CA-19EC5BD8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5EE54-B66E-49CF-A5C6-AFACA399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52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0D7BB"/>
                </a:solidFill>
              </a:defRPr>
            </a:pPr>
            <a:r>
              <a:rPr sz="1275">
                <a:solidFill>
                  <a:srgbClr val="F0D7BB"/>
                </a:solidFill>
              </a:rPr>
              <a:t>X OAuth/API dependency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3776E-878C-4915-BF77-FE66946F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34600-172A-41D1-A773-8A1219F6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1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0D7BB"/>
                </a:solidFill>
              </a:defRPr>
            </a:pPr>
            <a:r>
              <a:rPr sz="1275">
                <a:solidFill>
                  <a:srgbClr val="F0D7BB"/>
                </a:solidFill>
              </a:rPr>
              <a:t>Role separation and key custody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78CCC-9289-410E-8CEF-714FC526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3162300" cy="1962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8AC6E-812F-408A-96D9-8E0DB8CC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76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FF38"/>
                </a:solidFill>
              </a:defRPr>
            </a:pPr>
            <a:r>
              <a:rPr sz="1875" b="1">
                <a:solidFill>
                  <a:srgbClr val="B9FF38"/>
                </a:solidFill>
              </a:rPr>
              <a:t>Before users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B07F2-D735-415A-A298-15D44E82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38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27BA4-5AB1-4F88-AC04-1DFD11E6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0D7BB"/>
                </a:solidFill>
              </a:defRPr>
            </a:pPr>
            <a:r>
              <a:rPr sz="1275">
                <a:solidFill>
                  <a:srgbClr val="F0D7BB"/>
                </a:solidFill>
              </a:rPr>
              <a:t>HTTPS demo + managed 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ECFAD-F1F0-4F1F-BFE6-12F8250D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95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9B28DB-3E31-4501-A7F2-11E0C357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1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0D7BB"/>
                </a:solidFill>
              </a:defRPr>
            </a:pPr>
            <a:r>
              <a:rPr sz="1275">
                <a:solidFill>
                  <a:srgbClr val="F0D7BB"/>
                </a:solidFill>
              </a:rPr>
              <a:t>Two-account E2E and external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BC0C5F-CA29-44BC-AE6F-B587EBC7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24500"/>
            <a:ext cx="880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D7BB"/>
                </a:solidFill>
              </a:defRPr>
            </a:pPr>
            <a:r>
              <a:rPr sz="1500" b="1">
                <a:solidFill>
                  <a:srgbClr val="F0D7BB"/>
                </a:solidFill>
              </a:rPr>
              <a:t>Positioning: testnet pilot and hackathon submission, not a production launch claim.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25CC8A-C4E8-4207-8107-F2D15787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01A768-FCA9-4DA8-8C0E-2B42EE34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9556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17ACC8-F3FE-4ACB-98F6-3D1B1BF3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10495-B31F-4418-A0D1-D66B3178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92FB1-06DC-460D-A890-0F986F5A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D1AFA-405F-4ED8-B80B-40FA33B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7275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263E7-4BEC-46EA-B7A0-0BCAC9AD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F2540-E87D-4831-A10D-7053012A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817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9A68B-D514-47C2-955E-0CE567E7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ASK / NEXT MILESTONE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C4513-5AF7-4B9A-B361-AA20105E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0D7BB"/>
                </a:solidFill>
              </a:defRPr>
            </a:pPr>
            <a:r>
              <a:rPr sz="2700" b="1">
                <a:solidFill>
                  <a:srgbClr val="F0D7BB"/>
                </a:solidFill>
              </a:rPr>
              <a:t>Help turn the proof into a public Arc testnet 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05807-984F-4199-82D2-31B3DBA2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The next step is public verification, not a vague roadmap.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CB676-5293-4C57-8239-EFDD414A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30289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19374-F3B3-44D9-A682-39BFAF1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9FF38"/>
                </a:solidFill>
              </a:defRPr>
            </a:pPr>
            <a:r>
              <a:rPr sz="2025" b="1">
                <a:solidFill>
                  <a:srgbClr val="B9FF38"/>
                </a:solidFill>
              </a:rPr>
              <a:t>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573FD-B8FE-4B5D-9533-6463A2EA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386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Feedback on Arc/Circle integration, security model and DeFi-track fit.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0E189-C548-41CE-8CFE-DF518F2F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05150"/>
            <a:ext cx="30289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EAB47-DD29-41C7-ABA1-6AAD9163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29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BE7FF"/>
                </a:solidFill>
              </a:defRPr>
            </a:pPr>
            <a:r>
              <a:rPr sz="2025" b="1">
                <a:solidFill>
                  <a:srgbClr val="5BE7FF"/>
                </a:solidFill>
              </a:rPr>
              <a:t>Public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154C2-4D2D-42F0-8714-7A81736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386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HTTPS demo, CI badge, explorer links, source verification and release tag.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43DD5-DD80-4B85-94B8-8D99341D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0289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DC239-E53D-4D89-82F1-576812C6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9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9FF38"/>
                </a:solidFill>
              </a:defRPr>
            </a:pPr>
            <a:r>
              <a:rPr sz="2025" b="1">
                <a:solidFill>
                  <a:srgbClr val="B9FF38"/>
                </a:solidFill>
              </a:rPr>
              <a:t>Pilot hardening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B1D4F-FEDA-4F09-9CC9-DD132FDC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Two-wallet X OAuth E2E, role separation, monitoring and external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124FC-528C-4917-99D4-FD5B7492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505450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FF38"/>
                </a:solidFill>
              </a:defRPr>
            </a:pPr>
            <a:r>
              <a:rPr sz="1575" b="1">
                <a:solidFill>
                  <a:srgbClr val="B9FF38"/>
                </a:solidFill>
              </a:rPr>
              <a:t>TRACE is a focused DeFi payment primitive: send USDC to an identity now, settle to a verified wallet later.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139D8-1F4D-4623-8D6D-96F697A8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E6661"/>
                </a:solidFill>
              </a:defRPr>
            </a:pPr>
            <a:r>
              <a:rPr sz="900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F9258-B318-4CF7-A62F-4380E470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FF38"/>
                </a:solidFill>
              </a:defRPr>
            </a:pPr>
            <a:r>
              <a:rPr sz="900" b="1">
                <a:solidFill>
                  <a:srgbClr val="B9FF3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1200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2026-07-24T08:50:17.0330000Z</dcterms:created>
  <dcterms:modified xsi:type="dcterms:W3CDTF">2026-07-24T08:50:17.0330000Z</dcterms:modified>
</coreProperties>
</file>