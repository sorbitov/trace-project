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541417a998451e" /><Relationship Type="http://schemas.openxmlformats.org/officeDocument/2006/relationships/extended-properties" Target="/docProps/app.xml" Id="R770f0f3adbbc4133" /><Relationship Type="http://schemas.openxmlformats.org/officeDocument/2006/relationships/officeDocument" Target="/ppt/presentation.xml" Id="R48be3661574042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33b53a8e76463c"/>
  </p:sldMasterIdLst>
  <p:notesMasterIdLst>
    <p:notesMasterId xmlns:r="http://schemas.openxmlformats.org/officeDocument/2006/relationships" r:id="R29410484da464f3c"/>
  </p:notesMasterIdLst>
  <p:sldIdLst>
    <p:sldId xmlns:r="http://schemas.openxmlformats.org/officeDocument/2006/relationships" id="256" r:id="Re9f15af4a1714fb0"/>
    <p:sldId xmlns:r="http://schemas.openxmlformats.org/officeDocument/2006/relationships" id="257" r:id="R20c896461a6d46b7"/>
    <p:sldId xmlns:r="http://schemas.openxmlformats.org/officeDocument/2006/relationships" id="258" r:id="R83f672ca995e4412"/>
    <p:sldId xmlns:r="http://schemas.openxmlformats.org/officeDocument/2006/relationships" id="259" r:id="Rc7a9940339ec4d1a"/>
    <p:sldId xmlns:r="http://schemas.openxmlformats.org/officeDocument/2006/relationships" id="260" r:id="Rc3ae2b7e17474bea"/>
    <p:sldId xmlns:r="http://schemas.openxmlformats.org/officeDocument/2006/relationships" id="261" r:id="R93ca4e7a7d5e4f17"/>
    <p:sldId xmlns:r="http://schemas.openxmlformats.org/officeDocument/2006/relationships" id="262" r:id="Rf562b760b08445c8"/>
    <p:sldId xmlns:r="http://schemas.openxmlformats.org/officeDocument/2006/relationships" id="263" r:id="R53c30b17ee214653"/>
    <p:sldId xmlns:r="http://schemas.openxmlformats.org/officeDocument/2006/relationships" id="264" r:id="Rf367cebde789443e"/>
    <p:sldId xmlns:r="http://schemas.openxmlformats.org/officeDocument/2006/relationships" id="265" r:id="Rbf24bcadb51c4e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31a84052a3431e" /><Relationship Type="http://schemas.openxmlformats.org/officeDocument/2006/relationships/slideMaster" Target="/ppt/slideMasters/slideMaster1.xml" Id="R9333b53a8e76463c" /><Relationship Type="http://schemas.openxmlformats.org/officeDocument/2006/relationships/notesMaster" Target="/ppt/notesMasters/notesMaster1.xml" Id="R29410484da464f3c" /><Relationship Type="http://schemas.openxmlformats.org/officeDocument/2006/relationships/presProps" Target="/ppt/presProps.xml" Id="R545a7c144049480a" /><Relationship Type="http://schemas.openxmlformats.org/officeDocument/2006/relationships/tableStyles" Target="/ppt/tableStyles.xml" Id="R3ccc5a84d3e346f3" /><Relationship Type="http://schemas.openxmlformats.org/officeDocument/2006/relationships/slide" Target="/ppt/slides/slide1.xml" Id="Re9f15af4a1714fb0" /><Relationship Type="http://schemas.openxmlformats.org/officeDocument/2006/relationships/slide" Target="/ppt/slides/slide2.xml" Id="R20c896461a6d46b7" /><Relationship Type="http://schemas.openxmlformats.org/officeDocument/2006/relationships/slide" Target="/ppt/slides/slide3.xml" Id="R83f672ca995e4412" /><Relationship Type="http://schemas.openxmlformats.org/officeDocument/2006/relationships/slide" Target="/ppt/slides/slide4.xml" Id="Rc7a9940339ec4d1a" /><Relationship Type="http://schemas.openxmlformats.org/officeDocument/2006/relationships/slide" Target="/ppt/slides/slide5.xml" Id="Rc3ae2b7e17474bea" /><Relationship Type="http://schemas.openxmlformats.org/officeDocument/2006/relationships/slide" Target="/ppt/slides/slide6.xml" Id="R93ca4e7a7d5e4f17" /><Relationship Type="http://schemas.openxmlformats.org/officeDocument/2006/relationships/slide" Target="/ppt/slides/slide7.xml" Id="Rf562b760b08445c8" /><Relationship Type="http://schemas.openxmlformats.org/officeDocument/2006/relationships/slide" Target="/ppt/slides/slide8.xml" Id="R53c30b17ee214653" /><Relationship Type="http://schemas.openxmlformats.org/officeDocument/2006/relationships/slide" Target="/ppt/slides/slide9.xml" Id="Rf367cebde789443e" /><Relationship Type="http://schemas.openxmlformats.org/officeDocument/2006/relationships/slide" Target="/ppt/slides/slide10.xml" Id="Rbf24bcadb51c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6b508e88c5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7093e28bd84ec3" /><Relationship Type="http://schemas.openxmlformats.org/officeDocument/2006/relationships/notesMaster" Target="/ppt/notesMasters/notesMaster1.xml" Id="Rfe1c37807481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d20a40c7942ae" /><Relationship Type="http://schemas.openxmlformats.org/officeDocument/2006/relationships/notesMaster" Target="/ppt/notesMasters/notesMaster1.xml" Id="R600267ad8c8d4f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fc065eb9eb4573" /><Relationship Type="http://schemas.openxmlformats.org/officeDocument/2006/relationships/notesMaster" Target="/ppt/notesMasters/notesMaster1.xml" Id="Rc80e5e25802b4a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8cd0b12a54b98" /><Relationship Type="http://schemas.openxmlformats.org/officeDocument/2006/relationships/notesMaster" Target="/ppt/notesMasters/notesMaster1.xml" Id="R1c9f173b667b4e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cf8ad311b54221" /><Relationship Type="http://schemas.openxmlformats.org/officeDocument/2006/relationships/notesMaster" Target="/ppt/notesMasters/notesMaster1.xml" Id="Rcd372b24d5884f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1c3fd77fab41ae" /><Relationship Type="http://schemas.openxmlformats.org/officeDocument/2006/relationships/notesMaster" Target="/ppt/notesMasters/notesMaster1.xml" Id="Rd75a051cd41f44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6c55269dcb405c" /><Relationship Type="http://schemas.openxmlformats.org/officeDocument/2006/relationships/notesMaster" Target="/ppt/notesMasters/notesMaster1.xml" Id="Raf1de9aed4374c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5fd04c954746ea" /><Relationship Type="http://schemas.openxmlformats.org/officeDocument/2006/relationships/notesMaster" Target="/ppt/notesMasters/notesMaster1.xml" Id="Reac199cd6488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b3b93467fa4833" /><Relationship Type="http://schemas.openxmlformats.org/officeDocument/2006/relationships/notesMaster" Target="/ppt/notesMasters/notesMaster1.xml" Id="Rb58f1f1c155340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354f10c7274387" /><Relationship Type="http://schemas.openxmlformats.org/officeDocument/2006/relationships/notesMaster" Target="/ppt/notesMasters/notesMaster1.xml" Id="Ra523e9dff33f45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89ea383a746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4b98b0b124fa1" /><Relationship Type="http://schemas.openxmlformats.org/officeDocument/2006/relationships/slideLayout" Target="/ppt/slideLayouts/slideLayout1.xml" Id="Rff6a8f1d81da49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a8f1d81da49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7e105d98145a0" /><Relationship Type="http://schemas.openxmlformats.org/officeDocument/2006/relationships/image" Target="/ppt/media/image.jpeg" Id="Rbde0ef9704ad4806" /><Relationship Type="http://schemas.openxmlformats.org/officeDocument/2006/relationships/notesSlide" Target="/ppt/notesSlides/notesSlide1.xml" Id="R3729714088d945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60a31f5294131" /><Relationship Type="http://schemas.openxmlformats.org/officeDocument/2006/relationships/notesSlide" Target="/ppt/notesSlides/notesSlide2.xml" Id="R388d2ebd6ffc41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2e7ac1bed4312" /><Relationship Type="http://schemas.openxmlformats.org/officeDocument/2006/relationships/notesSlide" Target="/ppt/notesSlides/notesSlide3.xml" Id="R00717ba1c4804e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5d03393c74fc7" /><Relationship Type="http://schemas.openxmlformats.org/officeDocument/2006/relationships/notesSlide" Target="/ppt/notesSlides/notesSlide4.xml" Id="R64dae23f78ef43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be6032ee84767" /><Relationship Type="http://schemas.openxmlformats.org/officeDocument/2006/relationships/notesSlide" Target="/ppt/notesSlides/notesSlide5.xml" Id="R3714772fc9ff4e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31d62ce174e33" /><Relationship Type="http://schemas.openxmlformats.org/officeDocument/2006/relationships/notesSlide" Target="/ppt/notesSlides/notesSlide6.xml" Id="R28010f5a16d142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e3ad7185d4fa4" /><Relationship Type="http://schemas.openxmlformats.org/officeDocument/2006/relationships/notesSlide" Target="/ppt/notesSlides/notesSlide7.xml" Id="Rd491e9d0a8bb4d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1ccec51f44393" /><Relationship Type="http://schemas.openxmlformats.org/officeDocument/2006/relationships/notesSlide" Target="/ppt/notesSlides/notesSlide8.xml" Id="Rc56d67c10a4c40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d2703738444bf" /><Relationship Type="http://schemas.openxmlformats.org/officeDocument/2006/relationships/notesSlide" Target="/ppt/notesSlides/notesSlide9.xml" Id="R6b2da186d66648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bf49b857047a8" /><Relationship Type="http://schemas.openxmlformats.org/officeDocument/2006/relationships/notesSlide" Target="/ppt/notesSlides/notesSlide10.xml" Id="R84045d9c373d45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0ef9704ad4806"/>
          <a:stretch xmlns:a="http://schemas.openxmlformats.org/drawingml/2006/main"/>
        </p:blipFill>
        <p:spPr>
          <a:xfrm xmlns:a="http://schemas.openxmlformats.org/drawingml/2006/main">
            <a:off x="7067550" y="9334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5A551-282C-40AA-B757-FE6C3645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481721"/>
                </a:solidFill>
              </a:defRPr>
            </a:pPr>
            <a:r>
              <a:rPr sz="5850" b="1">
                <a:solidFill>
                  <a:srgbClr val="481721"/>
                </a:solidFill>
              </a:rPr>
              <a:t>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FE23D-E08D-4B67-811D-E74FB372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D1F2A"/>
                </a:solidFill>
              </a:defRPr>
            </a:pPr>
            <a:r>
              <a:rPr sz="2025" b="1">
                <a:solidFill>
                  <a:srgbClr val="4D1F2A"/>
                </a:solidFill>
              </a:rPr>
              <a:t>Trusted Recipient Arc Claim Escrow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7F036-7200-41E6-A93B-DC4B1B4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86B73"/>
                </a:solidFill>
              </a:defRPr>
            </a:pPr>
            <a:r>
              <a:rPr sz="1800" b="0">
                <a:solidFill>
                  <a:srgbClr val="986B73"/>
                </a:solidFill>
              </a:rPr>
              <a:t>Claimable USDC payments to X identities on Arc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AC040-1F54-4EA9-BAA5-A16CAF65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9A652-EA1C-4C60-AA3A-DF13103C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0505"/>
                </a:solidFill>
              </a:defRPr>
            </a:pPr>
            <a:r>
              <a:rPr sz="1125" b="1">
                <a:solidFill>
                  <a:srgbClr val="050505"/>
                </a:solidFill>
              </a:rPr>
              <a:t>DeFi Track / Arc + USDC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604D7-5E7C-4AFE-9FF2-54A9512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82E3C"/>
          </a:solidFill>
          <a:ln xmlns:a="http://schemas.openxmlformats.org/drawingml/2006/main" w="9525">
            <a:solidFill>
              <a:srgbClr val="682E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3DA7F-D595-434F-AF89-C75E3673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910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E9DF"/>
                </a:solidFill>
              </a:defRPr>
            </a:pPr>
            <a:r>
              <a:rPr sz="1125" b="1">
                <a:solidFill>
                  <a:srgbClr val="F3E9DF"/>
                </a:solidFill>
              </a:rPr>
              <a:t>Arc Testnet deployed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0C4E8-1E20-4A0D-B990-FA89ACA1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B80ED-ED3B-489F-B531-A9C77A60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BAB31-583E-40FB-8871-60476284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5611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F7122-DD56-442C-92DD-996AE3A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READINESS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6610F-09A0-4ADD-AEAC-59FF6034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Ready for demo and pilot hardening, not production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63756-8F9B-43AE-A803-2F025A2D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60371-E7FA-4753-923D-E57AEE4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3B11F-9BF3-4A7C-A11B-C3128DB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BE126-C595-44E7-A6E1-9CFE04C8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153AB-538C-402C-A976-5A72A358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E9DF"/>
                </a:solidFill>
              </a:defRPr>
            </a:pPr>
            <a:r>
              <a:rPr sz="1875" b="1">
                <a:solidFill>
                  <a:srgbClr val="F3E9DF"/>
                </a:solidFill>
              </a:rPr>
              <a:t>What is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ABE93-87EA-4969-B94B-540467FB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9C782-555F-42E4-A875-40E02891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8D3"/>
                </a:solidFill>
              </a:defRPr>
            </a:pPr>
            <a:r>
              <a:rPr sz="1350" b="0">
                <a:solidFill>
                  <a:srgbClr val="EAD8D3"/>
                </a:solidFill>
              </a:rPr>
              <a:t>Arc Testnet escrow deployment exists and is RPC-verified.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3A433-39D3-4445-91B2-4E4AF2AE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F7A2A-6E53-4BE9-B77C-B52766D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8D3"/>
                </a:solidFill>
              </a:defRPr>
            </a:pPr>
            <a:r>
              <a:rPr sz="1350" b="0">
                <a:solidFill>
                  <a:srgbClr val="EAD8D3"/>
                </a:solidFill>
              </a:rPr>
              <a:t>Create, claim, cancel and expired-refund paths have transaction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8EF77-9416-4E86-A1D5-D226EC7E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C2A8F-0807-48A8-B64C-45D26886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8D3"/>
                </a:solidFill>
              </a:defRPr>
            </a:pPr>
            <a:r>
              <a:rPr sz="1350" b="0">
                <a:solidFill>
                  <a:srgbClr val="EAD8D3"/>
                </a:solidFill>
              </a:rPr>
              <a:t>37 automated tests pass across contract, API, security and wallet 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1E376-816E-4632-9D4A-FA7109BF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1E4F6-0115-4ED8-B4CB-32C6BD05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82E3C"/>
                </a:solidFill>
              </a:defRPr>
            </a:pPr>
            <a:r>
              <a:rPr sz="1875" b="1">
                <a:solidFill>
                  <a:srgbClr val="682E3C"/>
                </a:solidFill>
              </a:rPr>
              <a:t>Before real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48593-2244-430F-8B36-696E242D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67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1FFDF-5D1C-470D-8ACF-02CD867A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1F2A"/>
                </a:solidFill>
              </a:defRPr>
            </a:pPr>
            <a:r>
              <a:rPr sz="1350" b="0">
                <a:solidFill>
                  <a:srgbClr val="4D1F2A"/>
                </a:solidFill>
              </a:rPr>
              <a:t>Publish HTTPS app, managed PostgreSQL, secrets and health monitoring.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85C28-5EFC-4F8A-B21D-FD30A3F5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5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BDC70-5A21-4D92-B994-94BBF2C7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1F2A"/>
                </a:solidFill>
              </a:defRPr>
            </a:pPr>
            <a:r>
              <a:rPr sz="1350" b="0">
                <a:solidFill>
                  <a:srgbClr val="4D1F2A"/>
                </a:solidFill>
              </a:rPr>
              <a:t>Run real two-X-account browser E2E with two wallets.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FF997-152F-4C49-B106-3182004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24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D46AD-5CFB-4A15-93FF-DFD1BA3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1F2A"/>
                </a:solidFill>
              </a:defRPr>
            </a:pPr>
            <a:r>
              <a:rPr sz="1350" b="0">
                <a:solidFill>
                  <a:srgbClr val="4D1F2A"/>
                </a:solidFill>
              </a:rPr>
              <a:t>Separate owner, verifier, treasury and deployer roles; finish external review.</a:t>
            </a:r>
          </a:p>
        </p:txBody>
      </p:sp>
    </p:spTree>
    <p:extLst>
      <p:ext uri="{BB962C8B-B14F-4D97-AF65-F5344CB8AC3E}">
        <p14:creationId xmlns:p14="http://schemas.microsoft.com/office/powerpoint/2010/main" val="2065383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89AC8-CA8F-4A2F-BB59-CD7B472A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1691-491C-4881-BB30-2A68534A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Crypto payments still start with an address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5DF54-BB65-4C25-BD40-0ABC4CB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8E3DF-C12A-4618-A24E-3CCFB0C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37E51-CA65-453E-91CC-D82D051F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D1D4F-82FD-4184-9DB4-E9E56DF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1F2A"/>
                </a:solidFill>
              </a:defRPr>
            </a:pPr>
            <a:r>
              <a:rPr sz="1800" b="0">
                <a:solidFill>
                  <a:srgbClr val="4D1F2A"/>
                </a:solidFill>
              </a:rPr>
              <a:t>Most Web3 coordination happens around social identity. Payment still forces the recipient to share a wallet address before the sender can 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149DA-F4B1-4554-860D-B55EE9C4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905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767F3-724F-4646-9BC4-8840E39D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57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D5FCD-FC79-4274-9510-1CDAC0AC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1F2A"/>
                </a:solidFill>
              </a:defRPr>
            </a:pPr>
            <a:r>
              <a:rPr sz="1350" b="0">
                <a:solidFill>
                  <a:srgbClr val="4D1F2A"/>
                </a:solidFill>
              </a:rPr>
              <a:t>DM friction and delayed payouts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C6D94-707B-4F18-BC14-D3A52EC7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62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D2AE1-4862-4A41-8E4A-8AF20596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1F2A"/>
                </a:solidFill>
              </a:defRPr>
            </a:pPr>
            <a:r>
              <a:rPr sz="1350" b="0">
                <a:solidFill>
                  <a:srgbClr val="4D1F2A"/>
                </a:solidFill>
              </a:rPr>
              <a:t>Copy/paste address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F8942-6DF2-4ACC-AFAA-FEA055FE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67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B9F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93CBF-C08E-4D8D-A7E5-4D827A7F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1F2A"/>
                </a:solidFill>
              </a:defRPr>
            </a:pPr>
            <a:r>
              <a:rPr sz="1350" b="0">
                <a:solidFill>
                  <a:srgbClr val="4D1F2A"/>
                </a:solidFill>
              </a:rPr>
              <a:t>No safe direct transfer when the wallet is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1C97F-1987-48A8-B2CE-5C8B7EA0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82E3C"/>
                </a:solidFill>
              </a:defRPr>
            </a:pPr>
            <a:r>
              <a:rPr sz="2100" b="1">
                <a:solidFill>
                  <a:srgbClr val="682E3C"/>
                </a:solidFill>
              </a:rPr>
              <a:t>TRACE changes the destination from a wallet address to a verified recipient identity.</a:t>
            </a:r>
          </a:p>
        </p:txBody>
      </p:sp>
    </p:spTree>
    <p:extLst>
      <p:ext uri="{BB962C8B-B14F-4D97-AF65-F5344CB8AC3E}">
        <p14:creationId xmlns:p14="http://schemas.microsoft.com/office/powerpoint/2010/main" val="2057723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AD000-AB3C-4365-8562-C5DFB3C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SOLUTION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85C35-91F4-45C7-A1B7-C8F6235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TRACE turns an X account into a claimable USDC destination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99E93-8FE7-4BA5-9E1C-E4D7A22F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18D3E-44E7-450B-A806-F8B64FA7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C8F28-736C-438B-A70E-4B306BB1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916FC-A930-42CC-9B94-647D5A52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83805-FFC0-4E2E-BCDD-327592F7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2E3C"/>
                </a:solidFill>
              </a:defRPr>
            </a:pPr>
            <a:r>
              <a:rPr sz="1650" b="1">
                <a:solidFill>
                  <a:srgbClr val="682E3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60905-199D-402E-B136-BED13BB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1F2A"/>
                </a:solidFill>
              </a:defRPr>
            </a:pPr>
            <a:r>
              <a:rPr sz="1500" b="1">
                <a:solidFill>
                  <a:srgbClr val="4D1F2A"/>
                </a:solidFill>
              </a:rPr>
              <a:t>Sender enters X handle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E7DB0-DA7E-492E-98A3-841DC088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7E140-4085-4CA7-A101-BD3B874F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FF38"/>
                </a:solidFill>
              </a:defRPr>
            </a:pPr>
            <a:r>
              <a:rPr sz="1650" b="1">
                <a:solidFill>
                  <a:srgbClr val="B9FF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EEBD5-4B35-4BF6-BA81-9C1CDDC8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E9DF"/>
                </a:solidFill>
              </a:defRPr>
            </a:pPr>
            <a:r>
              <a:rPr sz="1500" b="1">
                <a:solidFill>
                  <a:srgbClr val="F3E9DF"/>
                </a:solidFill>
              </a:rPr>
              <a:t>USDC funds Arc escrow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27A52-6F21-4E03-88BB-F857864C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4384B-5C37-4F71-B3E6-8B270A5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2E3C"/>
                </a:solidFill>
              </a:defRPr>
            </a:pPr>
            <a:r>
              <a:rPr sz="1650" b="1">
                <a:solidFill>
                  <a:srgbClr val="682E3C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D0A31-44EE-475A-AA0A-5312040F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1F2A"/>
                </a:solidFill>
              </a:defRPr>
            </a:pPr>
            <a:r>
              <a:rPr sz="1500" b="1">
                <a:solidFill>
                  <a:srgbClr val="4D1F2A"/>
                </a:solidFill>
              </a:rPr>
              <a:t>Recipient proves X + wallet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BCA73-0B8D-4035-A2D9-428D2B64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8925C-9CD7-45C9-9828-52BC2665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2E3C"/>
                </a:solidFill>
              </a:defRPr>
            </a:pPr>
            <a:r>
              <a:rPr sz="1650" b="1">
                <a:solidFill>
                  <a:srgbClr val="682E3C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AD52-AA03-42B9-BDA7-20C92A65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1F2A"/>
                </a:solidFill>
              </a:defRPr>
            </a:pPr>
            <a:r>
              <a:rPr sz="1500" b="1">
                <a:solidFill>
                  <a:srgbClr val="4D1F2A"/>
                </a:solidFill>
              </a:rPr>
              <a:t>Claim, cancel or refund settles onchain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86100" y="3152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2E3C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3152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2E3C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34400" y="3152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2E3C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4D8E2-E5D8-44D7-865F-66A9FD4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86B73"/>
                </a:solidFill>
              </a:defRPr>
            </a:pPr>
            <a:r>
              <a:rPr sz="1575" b="0">
                <a:solidFill>
                  <a:srgbClr val="986B73"/>
                </a:solidFill>
              </a:rPr>
              <a:t>The backend cannot mark funding or settlement complete from a client claim alone; it verifies Arc receipts and matching contract events.</a:t>
            </a:r>
          </a:p>
        </p:txBody>
      </p:sp>
    </p:spTree>
    <p:extLst>
      <p:ext uri="{BB962C8B-B14F-4D97-AF65-F5344CB8AC3E}">
        <p14:creationId xmlns:p14="http://schemas.microsoft.com/office/powerpoint/2010/main" val="692558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D4A43-5BB6-4B93-9F2E-F63C928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TRACK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38F67-1549-42BA-90F4-BDA6AD85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The DeFi fit is programmable stablecoin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82A6D-857A-4EA0-B431-887A1CC3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A40FD-B0E2-4345-8792-E56CE1BA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BE25A-B66C-4B3E-81AF-7F38D3C1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DD46D-21E2-482F-9756-39958BF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EB1EE-082A-48C0-9C49-4C3077F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FF38"/>
                </a:solidFill>
              </a:defRPr>
            </a:pPr>
            <a:r>
              <a:rPr sz="1800" b="1">
                <a:solidFill>
                  <a:srgbClr val="B9FF38"/>
                </a:solidFill>
              </a:rPr>
              <a:t>Arc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78C16-C69F-4360-A432-757462B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E9DF"/>
                </a:solidFill>
              </a:defRPr>
            </a:pPr>
            <a:r>
              <a:rPr sz="1425" b="0">
                <a:solidFill>
                  <a:srgbClr val="F3E9DF"/>
                </a:solidFill>
              </a:rPr>
              <a:t>Settlement layer, testnet execution, and USDC-denominated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008B6-8A85-447F-91E9-0BDDC984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F2C91-16C5-42E3-B244-CDE28270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2E3C"/>
                </a:solidFill>
              </a:defRPr>
            </a:pPr>
            <a:r>
              <a:rPr sz="1800" b="1">
                <a:solidFill>
                  <a:srgbClr val="682E3C"/>
                </a:solidFill>
              </a:rPr>
              <a:t>USDC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8F327-CE54-46C7-9AF7-67DDD64A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1F2A"/>
                </a:solidFill>
              </a:defRPr>
            </a:pPr>
            <a:r>
              <a:rPr sz="1425" b="0">
                <a:solidFill>
                  <a:srgbClr val="4D1F2A"/>
                </a:solidFill>
              </a:rPr>
              <a:t>Escrow principal, protocol fee asset and payment unit.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3D290-1276-4D2D-854F-03E13DD0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5F00E-FD56-4A9B-9D57-3CDF0A74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2E3C"/>
                </a:solidFill>
              </a:defRPr>
            </a:pPr>
            <a:r>
              <a:rPr sz="1800" b="1">
                <a:solidFill>
                  <a:srgbClr val="682E3C"/>
                </a:solidFill>
              </a:rPr>
              <a:t>Programmability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B5724-4C49-448F-AC1A-54161B2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52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1F2A"/>
                </a:solidFill>
              </a:defRPr>
            </a:pPr>
            <a:r>
              <a:rPr sz="1425" b="0">
                <a:solidFill>
                  <a:srgbClr val="4D1F2A"/>
                </a:solidFill>
              </a:rPr>
              <a:t>Identity-bound claim authorization, cancellation policy, expiry and refund.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2A7A1-0143-4640-81D1-66300415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742E8-7F9B-41C5-AD03-B7D396A4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2E3C"/>
                </a:solidFill>
              </a:defRPr>
            </a:pPr>
            <a:r>
              <a:rPr sz="1800" b="1">
                <a:solidFill>
                  <a:srgbClr val="682E3C"/>
                </a:solidFill>
              </a:rPr>
              <a:t>Treasury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67903-BD1C-4F86-8B21-C8A74457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1F2A"/>
                </a:solidFill>
              </a:defRPr>
            </a:pPr>
            <a:r>
              <a:rPr sz="1425" b="0">
                <a:solidFill>
                  <a:srgbClr val="4D1F2A"/>
                </a:solidFill>
              </a:rPr>
              <a:t>Mandatory fee routed onchain while principal remains recoverable.</a:t>
            </a:r>
          </a:p>
        </p:txBody>
      </p:sp>
    </p:spTree>
    <p:extLst>
      <p:ext uri="{BB962C8B-B14F-4D97-AF65-F5344CB8AC3E}">
        <p14:creationId xmlns:p14="http://schemas.microsoft.com/office/powerpoint/2010/main" val="299527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3662F-1FB8-474E-B100-2DB5ADA8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E93F3-7585-4B55-B865-A751317E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Trust is split between identity policy and onchain custody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3BF9B-8338-4C2E-9F0D-D1E9D818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B9508-0CC0-43B8-8692-AAC024C7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B9006-C495-4113-8803-4FDD24F6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111C4-E5EB-494D-A39E-C45E4F91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727C6-2440-4C1B-9711-6746AE99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82E3C"/>
                </a:solidFill>
              </a:defRPr>
            </a:pPr>
            <a:r>
              <a:rPr sz="1725" b="1">
                <a:solidFill>
                  <a:srgbClr val="682E3C"/>
                </a:solidFill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0E65E-7596-48DE-B113-7F1CCDB5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6B73"/>
                </a:solidFill>
              </a:defRPr>
            </a:pPr>
            <a:r>
              <a:rPr sz="1125" b="0">
                <a:solidFill>
                  <a:srgbClr val="986B73"/>
                </a:solidFill>
              </a:rPr>
              <a:t>wallet + X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4EA44-E4B4-409E-98CA-DC755BB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FC5CB-5715-43B2-A348-6C01F827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E9DF"/>
                </a:solidFill>
              </a:defRPr>
            </a:pPr>
            <a:r>
              <a:rPr sz="1725" b="1">
                <a:solidFill>
                  <a:srgbClr val="F3E9DF"/>
                </a:solidFill>
              </a:rPr>
              <a:t>TRACE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99351-881D-438D-A319-DC414857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003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D8D3"/>
                </a:solidFill>
              </a:defRPr>
            </a:pPr>
            <a:r>
              <a:rPr sz="1125" b="0">
                <a:solidFill>
                  <a:srgbClr val="EAD8D3"/>
                </a:solidFill>
              </a:rPr>
              <a:t>OAuth, policy, receipt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223D7-893B-4380-A369-E936CF9C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8E936-5FB9-41E0-AB37-18F86ED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82E3C"/>
                </a:solidFill>
              </a:defRPr>
            </a:pPr>
            <a:r>
              <a:rPr sz="1725" b="1">
                <a:solidFill>
                  <a:srgbClr val="682E3C"/>
                </a:solidFill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BFA1D-94D3-4ABB-BED9-48D2F42A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6B73"/>
                </a:solidFill>
              </a:defRPr>
            </a:pPr>
            <a:r>
              <a:rPr sz="1125" b="0">
                <a:solidFill>
                  <a:srgbClr val="986B73"/>
                </a:solidFill>
              </a:rPr>
              <a:t>sessions, payments, audit, indexer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2F7B1-649D-4636-B703-FE677CFB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71428-366C-4172-A6D7-05352AF5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82E3C"/>
                </a:solidFill>
              </a:defRPr>
            </a:pPr>
            <a:r>
              <a:rPr sz="1725" b="1">
                <a:solidFill>
                  <a:srgbClr val="682E3C"/>
                </a:solidFill>
              </a:rPr>
              <a:t>Arc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3E184-D667-489E-9A3B-3D9F6A04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003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6B73"/>
                </a:solidFill>
              </a:defRPr>
            </a:pPr>
            <a:r>
              <a:rPr sz="1125" b="0">
                <a:solidFill>
                  <a:srgbClr val="986B73"/>
                </a:solidFill>
              </a:rPr>
              <a:t>USDC custody and lifecycle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81300" y="2762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2E3C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76900" y="2762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2E3C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72500" y="2762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2E3C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689A9-057B-4A88-B849-333CC1D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979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1F2A"/>
                </a:solidFill>
              </a:defRPr>
            </a:pPr>
            <a:r>
              <a:rPr sz="1875" b="1">
                <a:solidFill>
                  <a:srgbClr val="4D1F2A"/>
                </a:solidFill>
              </a:rPr>
              <a:t>Invariant: the database indexes state, but only verified Arc transactions fund or settle a payment.</a:t>
            </a:r>
          </a:p>
        </p:txBody>
      </p:sp>
    </p:spTree>
    <p:extLst>
      <p:ext uri="{BB962C8B-B14F-4D97-AF65-F5344CB8AC3E}">
        <p14:creationId xmlns:p14="http://schemas.microsoft.com/office/powerpoint/2010/main" val="2057693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257C5-C3A0-4D58-9A53-80729396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SECURITY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B9AFE-7C82-42E5-A789-60F95060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Security centers on proof binding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506E8-B8ED-4049-AD1F-DD6C67FA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A0E7C-201C-4158-8CBC-4A16B1B7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A4B05-1435-4FB8-ACB8-5B689557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7C8EE-44C2-4E59-BDE4-90F43CCE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8F524-4D4B-4016-9D3B-BA78B3EF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2E3C"/>
                </a:solidFill>
              </a:defRPr>
            </a:pPr>
            <a:r>
              <a:rPr sz="1575" b="1">
                <a:solidFill>
                  <a:srgbClr val="682E3C"/>
                </a:solidFill>
              </a:rPr>
              <a:t>Recipient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D013C-86C7-4720-8D9C-E18B46BE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1F2A"/>
                </a:solidFill>
              </a:defRPr>
            </a:pPr>
            <a:r>
              <a:rPr sz="1125" b="0">
                <a:solidFill>
                  <a:srgbClr val="4D1F2A"/>
                </a:solidFill>
              </a:rPr>
              <a:t>Fresh X OAuth must match the immutable recipient X user 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AF97A-C6F1-4885-B0A0-8AD57518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26369-A74B-48C4-9CDD-C4558712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2E3C"/>
                </a:solidFill>
              </a:defRPr>
            </a:pPr>
            <a:r>
              <a:rPr sz="1575" b="1">
                <a:solidFill>
                  <a:srgbClr val="682E3C"/>
                </a:solidFill>
              </a:rPr>
              <a:t>Wallet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D0C2E-B2D6-487B-B11B-5201FBA1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1F2A"/>
                </a:solidFill>
              </a:defRPr>
            </a:pPr>
            <a:r>
              <a:rPr sz="1125" b="0">
                <a:solidFill>
                  <a:srgbClr val="4D1F2A"/>
                </a:solidFill>
              </a:rPr>
              <a:t>A one-time signed challenge binds the destination wallet to the session.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F36CC-C2AF-41EE-BC6D-629ADA8C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88BCC-BFAA-4190-AB64-3A31342D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38"/>
                </a:solidFill>
              </a:defRPr>
            </a:pPr>
            <a:r>
              <a:rPr sz="1575" b="1">
                <a:solidFill>
                  <a:srgbClr val="B9FF38"/>
                </a:solidFill>
              </a:rPr>
              <a:t>Claim digest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9EBD8-C2BA-4E24-866E-C9BA90E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D8D3"/>
                </a:solidFill>
              </a:defRPr>
            </a:pPr>
            <a:r>
              <a:rPr sz="1125" b="0">
                <a:solidFill>
                  <a:srgbClr val="EAD8D3"/>
                </a:solidFill>
              </a:rPr>
              <a:t>Authorization binds payment ID, wallet, chain ID, contract and expiry.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A959A-B4FC-46ED-8B3C-5FB9B452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F2474-6367-490E-B2F2-1A7DAF6E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2E3C"/>
                </a:solidFill>
              </a:defRPr>
            </a:pPr>
            <a:r>
              <a:rPr sz="1575" b="1">
                <a:solidFill>
                  <a:srgbClr val="682E3C"/>
                </a:solidFill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40E88-1222-404B-9A10-ECD96C6A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1F2A"/>
                </a:solidFill>
              </a:defRPr>
            </a:pPr>
            <a:r>
              <a:rPr sz="1125" b="0">
                <a:solidFill>
                  <a:srgbClr val="4D1F2A"/>
                </a:solidFill>
              </a:rPr>
              <a:t>Sender cancel/refund remains available under contract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C94C7-67D2-4D72-8592-19A2ABF1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147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F98A0-E7F7-4BDD-A487-5A87EFDF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2E3C"/>
                </a:solidFill>
              </a:defRPr>
            </a:pPr>
            <a:r>
              <a:rPr sz="1575" b="1">
                <a:solidFill>
                  <a:srgbClr val="682E3C"/>
                </a:solidFill>
              </a:rPr>
              <a:t>Privacy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705CC-E0BE-43A2-A0EF-8F789F74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1F2A"/>
                </a:solidFill>
              </a:defRPr>
            </a:pPr>
            <a:r>
              <a:rPr sz="1125" b="0">
                <a:solidFill>
                  <a:srgbClr val="4D1F2A"/>
                </a:solidFill>
              </a:rPr>
              <a:t>Unauthorized API views omit amount, sender and memo; chain activity remains public.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EA916-01A1-4A0F-B786-9FF3FDD0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147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A19C0-BC61-4CF2-8216-77CC0E25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38"/>
                </a:solidFill>
              </a:defRPr>
            </a:pPr>
            <a:r>
              <a:rPr sz="1575" b="1">
                <a:solidFill>
                  <a:srgbClr val="B9FF38"/>
                </a:solidFill>
              </a:rPr>
              <a:t>Production 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E0BD2-38DB-4392-8573-95A14024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D8D3"/>
                </a:solidFill>
              </a:defRPr>
            </a:pPr>
            <a:r>
              <a:rPr sz="1125" b="0">
                <a:solidFill>
                  <a:srgbClr val="EAD8D3"/>
                </a:solidFill>
              </a:rPr>
              <a:t>External contract/backend review and managed key custody remain required.</a:t>
            </a:r>
          </a:p>
        </p:txBody>
      </p:sp>
    </p:spTree>
    <p:extLst>
      <p:ext uri="{BB962C8B-B14F-4D97-AF65-F5344CB8AC3E}">
        <p14:creationId xmlns:p14="http://schemas.microsoft.com/office/powerpoint/2010/main" val="1285448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849C8-DE9E-4BF4-A621-D26FDDD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CURRENT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82323-D645-4FCC-ADFB-DCFAED7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Evidence exists, but final public proof still needs hosting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82903-9775-4AF6-9BA2-C41C76A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97E69-4F9B-4E56-B0F6-F4121E36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989E5-489D-4C46-A207-D9205C29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F30B7-5524-469B-AC0F-4F68741D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3A2CF-1A77-4BF9-A484-5CBA425B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82E3C"/>
                </a:solidFill>
              </a:defRPr>
            </a:pPr>
            <a:r>
              <a:rPr sz="2400" b="1">
                <a:solidFill>
                  <a:srgbClr val="682E3C"/>
                </a:solidFill>
              </a:rPr>
              <a:t>37 /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F0DDB-236F-4002-8F85-DBC5A22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6B73"/>
                </a:solidFill>
              </a:defRPr>
            </a:pPr>
            <a:r>
              <a:rPr sz="1125" b="0">
                <a:solidFill>
                  <a:srgbClr val="986B73"/>
                </a:solidFill>
              </a:rPr>
              <a:t>automated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88947-14EA-40F0-8D62-6BD5F92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B8C76-3F3F-4A5F-9E5F-FF92A0E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24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82E3C"/>
                </a:solidFill>
              </a:defRPr>
            </a:pPr>
            <a:r>
              <a:rPr sz="2400" b="1">
                <a:solidFill>
                  <a:srgbClr val="682E3C"/>
                </a:solidFill>
              </a:rPr>
              <a:t>5042002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6375F-59AC-441E-A709-11DA8380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6B73"/>
                </a:solidFill>
              </a:defRPr>
            </a:pPr>
            <a:r>
              <a:rPr sz="1125" b="0">
                <a:solidFill>
                  <a:srgbClr val="986B73"/>
                </a:solidFill>
              </a:rPr>
              <a:t>Arc Testnet chain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A6BC1-5606-4DD0-857F-62E4846C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B09BF-432E-48A4-B366-588CEA06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24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82E3C"/>
                </a:solidFill>
              </a:defRPr>
            </a:pPr>
            <a:r>
              <a:rPr sz="2400" b="1">
                <a:solidFill>
                  <a:srgbClr val="682E3C"/>
                </a:solidFill>
              </a:rPr>
              <a:t>0.50%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E90F0-A129-41FE-B3A8-DC792582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6B73"/>
                </a:solidFill>
              </a:defRPr>
            </a:pPr>
            <a:r>
              <a:rPr sz="1125" b="0">
                <a:solidFill>
                  <a:srgbClr val="986B73"/>
                </a:solidFill>
              </a:rPr>
              <a:t>minimum protocol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DEB00-BDB8-4910-945F-68A1E17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359CF-6098-4871-BC86-06F7B824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24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82E3C"/>
                </a:solidFill>
              </a:defRPr>
            </a:pPr>
            <a:r>
              <a:rPr sz="2400" b="1">
                <a:solidFill>
                  <a:srgbClr val="682E3C"/>
                </a:solidFill>
              </a:rPr>
              <a:t>3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60F79-0BE8-4717-837B-7D3E175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19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6B73"/>
                </a:solidFill>
              </a:defRPr>
            </a:pPr>
            <a:r>
              <a:rPr sz="1125" b="0">
                <a:solidFill>
                  <a:srgbClr val="986B73"/>
                </a:solidFill>
              </a:rPr>
              <a:t>claim, cancel, refund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33D31-487B-4DA8-95FE-7AB023A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66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D6081-D761-4112-BD10-832D7FE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38"/>
                </a:solidFill>
              </a:defRPr>
            </a:pPr>
            <a:r>
              <a:rPr sz="1575" b="1">
                <a:solidFill>
                  <a:srgbClr val="B9FF38"/>
                </a:solidFill>
              </a:rPr>
              <a:t>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5D493-CC7B-4D2B-A8BF-D858DFB9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E9DF"/>
                </a:solidFill>
              </a:defRPr>
            </a:pPr>
            <a:r>
              <a:rPr sz="1500" b="0">
                <a:solidFill>
                  <a:srgbClr val="F3E9DF"/>
                </a:solidFill>
              </a:rPr>
              <a:t>0x5A3949aE67a37e7e37bFC77F5b7832Cc93f40A2a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4A7A6-5268-4EF9-BAB6-0C6B58E7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D8D3"/>
                </a:solidFill>
              </a:defRPr>
            </a:pPr>
            <a:r>
              <a:rPr sz="1125" b="0">
                <a:solidFill>
                  <a:srgbClr val="EAD8D3"/>
                </a:solidFill>
              </a:rPr>
              <a:t>Deployment tx: 0xa3f80c8ee66e9ae22900e8b119caf391b16830f60ee921565b4ffd9cc7d9c97e</a:t>
            </a:r>
          </a:p>
        </p:txBody>
      </p:sp>
    </p:spTree>
    <p:extLst>
      <p:ext uri="{BB962C8B-B14F-4D97-AF65-F5344CB8AC3E}">
        <p14:creationId xmlns:p14="http://schemas.microsoft.com/office/powerpoint/2010/main" val="1098953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52172B-440E-4B24-A528-EEE14796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9E5AD-EF7B-498F-AC07-5408D5CE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The judge demo should show the full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4318-8DCD-4E58-9BBB-7E1E1ED6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A23F3-5B26-4211-85E1-02F482C0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D4A15-82CE-4780-8A3D-614120B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7C7D6-0690-424F-BAB4-8DEA6C1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647E8-11CA-4A9C-BB93-DF029DF2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2E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774B1-875F-4308-BC71-5650AF5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2E3C"/>
                </a:solidFill>
              </a:defRPr>
            </a:pPr>
            <a:r>
              <a:rPr sz="1275" b="1">
                <a:solidFill>
                  <a:srgbClr val="682E3C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52587-B1D9-4CAE-8333-93AEBAF8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573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1F2A"/>
                </a:solidFill>
              </a:defRPr>
            </a:pPr>
            <a:r>
              <a:rPr sz="1800" b="1">
                <a:solidFill>
                  <a:srgbClr val="4D1F2A"/>
                </a:solidFill>
              </a:rPr>
              <a:t>Enter X handle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371B1-9097-4F46-A521-442527CD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1C406-EB2B-488B-8BCD-880D127A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2E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E8B2A-B1D5-43D2-A3FD-0F0B31DC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2E3C"/>
                </a:solidFill>
              </a:defRPr>
            </a:pPr>
            <a:r>
              <a:rPr sz="1275" b="1">
                <a:solidFill>
                  <a:srgbClr val="682E3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C595F-6BD7-44E8-ABCE-FB61444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669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1F2A"/>
                </a:solidFill>
              </a:defRPr>
            </a:pPr>
            <a:r>
              <a:rPr sz="1800" b="1">
                <a:solidFill>
                  <a:srgbClr val="4D1F2A"/>
                </a:solidFill>
              </a:rPr>
              <a:t>Approve and create escrow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3A27B-8A6A-432E-A660-6E313BAD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FF0D7-6DF6-45BD-B459-B1FD71E7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2E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FB65F-3308-4DB0-8CF1-8A51A827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2E3C"/>
                </a:solidFill>
              </a:defRPr>
            </a:pPr>
            <a:r>
              <a:rPr sz="1275" b="1">
                <a:solidFill>
                  <a:srgbClr val="682E3C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0D447-0440-4A2C-A51A-B54C8842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765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1F2A"/>
                </a:solidFill>
              </a:defRPr>
            </a:pPr>
            <a:r>
              <a:rPr sz="1800" b="1">
                <a:solidFill>
                  <a:srgbClr val="4D1F2A"/>
                </a:solidFill>
              </a:rPr>
              <a:t>Open claim link as recipient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03432-5FF0-4D3E-904D-E56C804A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B486F-EA85-4B1F-A141-F9892E1E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2E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23FF9-A2FE-4B0D-87A1-23C2BA62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2E3C"/>
                </a:solidFill>
              </a:defRPr>
            </a:pPr>
            <a:r>
              <a:rPr sz="1275" b="1">
                <a:solidFill>
                  <a:srgbClr val="682E3C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C86E5-F0C6-464E-A9D4-4AF30B9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861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1F2A"/>
                </a:solidFill>
              </a:defRPr>
            </a:pPr>
            <a:r>
              <a:rPr sz="1800" b="1">
                <a:solidFill>
                  <a:srgbClr val="4D1F2A"/>
                </a:solidFill>
              </a:rPr>
              <a:t>Prove X and wallet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BD2D4-0949-49F7-96F9-C5332875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A0A49-D787-4F94-BA68-0A04FE1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9525">
            <a:solidFill>
              <a:srgbClr val="682E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FF741-8702-4B54-846B-8CC28AB8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2E3C"/>
                </a:solidFill>
              </a:defRPr>
            </a:pPr>
            <a:r>
              <a:rPr sz="1275" b="1">
                <a:solidFill>
                  <a:srgbClr val="682E3C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4F669-C097-4752-98D4-A7042D2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957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1F2A"/>
                </a:solidFill>
              </a:defRPr>
            </a:pPr>
            <a:r>
              <a:rPr sz="1800" b="1">
                <a:solidFill>
                  <a:srgbClr val="4D1F2A"/>
                </a:solidFill>
              </a:rPr>
              <a:t>Claim USDC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53FA7-F787-4C0D-BDFE-B650E4E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2E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03B90D-9D24-489C-8AE0-26270F5A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2E3C"/>
                </a:solidFill>
              </a:defRPr>
            </a:pPr>
            <a:r>
              <a:rPr sz="1275" b="1">
                <a:solidFill>
                  <a:srgbClr val="682E3C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90011-2AFC-4789-859A-81AB914E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053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1F2A"/>
                </a:solidFill>
              </a:defRPr>
            </a:pPr>
            <a:r>
              <a:rPr sz="1800" b="1">
                <a:solidFill>
                  <a:srgbClr val="4D1F2A"/>
                </a:solidFill>
              </a:rPr>
              <a:t>Show cancel/refund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7A4BC-98E7-46EE-BB6E-9F4C8AEF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60442-9B33-45F9-94D0-E9C1ED92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82E3C"/>
                </a:solidFill>
              </a:defRPr>
            </a:pPr>
            <a:r>
              <a:rPr sz="1950" b="1">
                <a:solidFill>
                  <a:srgbClr val="682E3C"/>
                </a:solidFill>
              </a:rPr>
              <a:t>Demo 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52F19C-066B-4C97-9641-F562EEE7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1F2A"/>
                </a:solidFill>
              </a:defRPr>
            </a:pPr>
            <a:r>
              <a:rPr sz="1500" b="0">
                <a:solidFill>
                  <a:srgbClr val="4D1F2A"/>
                </a:solidFill>
              </a:rPr>
              <a:t>Never simulate success. If X, DB, RPC or contract config is missing, the app should fail closed and show the blocker.</a:t>
            </a:r>
          </a:p>
        </p:txBody>
      </p:sp>
    </p:spTree>
    <p:extLst>
      <p:ext uri="{BB962C8B-B14F-4D97-AF65-F5344CB8AC3E}">
        <p14:creationId xmlns:p14="http://schemas.microsoft.com/office/powerpoint/2010/main" val="4353782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9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4E1B0-CAB7-49A0-8236-5B2C816F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6B73"/>
                </a:solidFill>
              </a:defRPr>
            </a:pPr>
            <a:r>
              <a:rPr sz="1050" b="1">
                <a:solidFill>
                  <a:srgbClr val="986B73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7CD77-173F-4384-8859-E4616794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D1F2A"/>
                </a:solidFill>
              </a:defRPr>
            </a:pPr>
            <a:r>
              <a:rPr sz="3150" b="1">
                <a:solidFill>
                  <a:srgbClr val="4D1F2A"/>
                </a:solidFill>
              </a:rPr>
              <a:t>The next milestone is a public testnet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F89BF-59B5-4FC9-9FB3-70D5B14E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DAD35-D5BA-40E9-BBC8-165B270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6B73"/>
                </a:solidFill>
              </a:defRPr>
            </a:pPr>
            <a:r>
              <a:rPr sz="900" b="1">
                <a:solidFill>
                  <a:srgbClr val="986B73"/>
                </a:solidFill>
              </a:rPr>
              <a:t>TRACE / ARC TESTNET /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E8C0E-F8FA-4825-957A-A7E193C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6B73"/>
                </a:solidFill>
              </a:defRPr>
            </a:pPr>
            <a:r>
              <a:rPr sz="900" b="0">
                <a:solidFill>
                  <a:srgbClr val="986B7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250DA-FA0A-4F78-B767-40FFD6E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6CFCB-BEE1-435B-BA58-7E3F0B0D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82E3C"/>
                </a:solidFill>
              </a:defRPr>
            </a:pPr>
            <a:r>
              <a:rPr sz="2850" b="1">
                <a:solidFill>
                  <a:srgbClr val="682E3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93E21-440E-4D61-96E8-6D39295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D1F2A"/>
                </a:solidFill>
              </a:defRPr>
            </a:pPr>
            <a:r>
              <a:rPr sz="2100" b="1">
                <a:solidFill>
                  <a:srgbClr val="4D1F2A"/>
                </a:solidFill>
              </a:rPr>
              <a:t>Publish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0C78A-CEE9-4AB9-9D17-04880798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6B73"/>
                </a:solidFill>
              </a:defRPr>
            </a:pPr>
            <a:r>
              <a:rPr sz="1350" b="0">
                <a:solidFill>
                  <a:srgbClr val="986B73"/>
                </a:solidFill>
              </a:rPr>
              <a:t>GitHub repo, CI output, HTTPS demo and release tag.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EF099-C9CC-461D-BF67-9D348E4C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481721"/>
          </a:solidFill>
          <a:ln xmlns:a="http://schemas.openxmlformats.org/drawingml/2006/main" w="9525">
            <a:solidFill>
              <a:srgbClr val="48172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B81DD-47FB-4C34-B25A-0A4F0B0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9FF38"/>
                </a:solidFill>
              </a:defRPr>
            </a:pPr>
            <a:r>
              <a:rPr sz="2850" b="1">
                <a:solidFill>
                  <a:srgbClr val="B9FF3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DA10-62E2-4813-B572-A10EFC5C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E9DF"/>
                </a:solidFill>
              </a:defRPr>
            </a:pPr>
            <a:r>
              <a:rPr sz="2100" b="1">
                <a:solidFill>
                  <a:srgbClr val="F3E9DF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AB0DC-0E78-4690-89E8-604FBAEC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8D3"/>
                </a:solidFill>
              </a:defRPr>
            </a:pPr>
            <a:r>
              <a:rPr sz="1350" b="0">
                <a:solidFill>
                  <a:srgbClr val="EAD8D3"/>
                </a:solidFill>
              </a:rPr>
              <a:t>Arcscan source verification, two-account X E2E and reviewer video.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6818F-AC45-4A51-8F50-9C36733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A9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A3C95-16E1-403D-B7BE-A4B99686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82E3C"/>
                </a:solidFill>
              </a:defRPr>
            </a:pPr>
            <a:r>
              <a:rPr sz="2850" b="1">
                <a:solidFill>
                  <a:srgbClr val="682E3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61A60-D4B0-4B95-8194-A9E8BE2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D1F2A"/>
                </a:solidFill>
              </a:defRPr>
            </a:pPr>
            <a:r>
              <a:rPr sz="2100" b="1">
                <a:solidFill>
                  <a:srgbClr val="4D1F2A"/>
                </a:solidFill>
              </a:rPr>
              <a:t>Harden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7E56E-664E-4307-AB5D-0A71E2F4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6B73"/>
                </a:solidFill>
              </a:defRPr>
            </a:pPr>
            <a:r>
              <a:rPr sz="1350" b="0">
                <a:solidFill>
                  <a:srgbClr val="986B73"/>
                </a:solidFill>
              </a:rPr>
              <a:t>Role separation, managed signer, monitoring and external security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37CC7-B94D-4A80-B1C8-B33FF562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82E3C"/>
                </a:solidFill>
              </a:defRPr>
            </a:pPr>
            <a:r>
              <a:rPr sz="1875" b="1">
                <a:solidFill>
                  <a:srgbClr val="682E3C"/>
                </a:solidFill>
              </a:rPr>
              <a:t>Decision: proceed as a DeFi Track submission and testnet pilot, not as a production launch claim.</a:t>
            </a:r>
          </a:p>
        </p:txBody>
      </p:sp>
    </p:spTree>
    <p:extLst>
      <p:ext uri="{BB962C8B-B14F-4D97-AF65-F5344CB8AC3E}">
        <p14:creationId xmlns:p14="http://schemas.microsoft.com/office/powerpoint/2010/main" val="507425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2026-07-24T07:17:35.9550000Z</dcterms:created>
  <dcterms:modified xsi:type="dcterms:W3CDTF">2026-07-24T07:17:35.9550000Z</dcterms:modified>
</coreProperties>
</file>