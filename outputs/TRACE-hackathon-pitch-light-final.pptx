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636e958af24b29" /><Relationship Type="http://schemas.openxmlformats.org/officeDocument/2006/relationships/extended-properties" Target="/docProps/app.xml" Id="R04c0b7150b4a44c3" /><Relationship Type="http://schemas.openxmlformats.org/officeDocument/2006/relationships/officeDocument" Target="/ppt/presentation.xml" Id="R9138855c1be947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5d4067831e42ec"/>
  </p:sldMasterIdLst>
  <p:notesMasterIdLst>
    <p:notesMasterId xmlns:r="http://schemas.openxmlformats.org/officeDocument/2006/relationships" r:id="R6b71c83ef9b74ee3"/>
  </p:notesMasterIdLst>
  <p:sldIdLst>
    <p:sldId xmlns:r="http://schemas.openxmlformats.org/officeDocument/2006/relationships" id="256" r:id="Rf2683cf6c9d346c6"/>
    <p:sldId xmlns:r="http://schemas.openxmlformats.org/officeDocument/2006/relationships" id="257" r:id="R3d6d0b143e6744c6"/>
    <p:sldId xmlns:r="http://schemas.openxmlformats.org/officeDocument/2006/relationships" id="258" r:id="Rc4ab0c602e184595"/>
    <p:sldId xmlns:r="http://schemas.openxmlformats.org/officeDocument/2006/relationships" id="259" r:id="Rebc4cd2a38d54f3b"/>
    <p:sldId xmlns:r="http://schemas.openxmlformats.org/officeDocument/2006/relationships" id="260" r:id="Raf4aec41785c4d36"/>
    <p:sldId xmlns:r="http://schemas.openxmlformats.org/officeDocument/2006/relationships" id="261" r:id="R8092a1a240b747f3"/>
    <p:sldId xmlns:r="http://schemas.openxmlformats.org/officeDocument/2006/relationships" id="262" r:id="R93d0840ebc0b4179"/>
    <p:sldId xmlns:r="http://schemas.openxmlformats.org/officeDocument/2006/relationships" id="263" r:id="R0a12a635069245b7"/>
    <p:sldId xmlns:r="http://schemas.openxmlformats.org/officeDocument/2006/relationships" id="264" r:id="Radeb7767504348aa"/>
    <p:sldId xmlns:r="http://schemas.openxmlformats.org/officeDocument/2006/relationships" id="265" r:id="Rf7fde616a23c4a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2f4e6403f549d9" /><Relationship Type="http://schemas.openxmlformats.org/officeDocument/2006/relationships/slideMaster" Target="/ppt/slideMasters/slideMaster1.xml" Id="Rcf5d4067831e42ec" /><Relationship Type="http://schemas.openxmlformats.org/officeDocument/2006/relationships/notesMaster" Target="/ppt/notesMasters/notesMaster1.xml" Id="R6b71c83ef9b74ee3" /><Relationship Type="http://schemas.openxmlformats.org/officeDocument/2006/relationships/presProps" Target="/ppt/presProps.xml" Id="Rc4fae0dde7034506" /><Relationship Type="http://schemas.openxmlformats.org/officeDocument/2006/relationships/tableStyles" Target="/ppt/tableStyles.xml" Id="R99a80c68685f4a55" /><Relationship Type="http://schemas.openxmlformats.org/officeDocument/2006/relationships/slide" Target="/ppt/slides/slide1.xml" Id="Rf2683cf6c9d346c6" /><Relationship Type="http://schemas.openxmlformats.org/officeDocument/2006/relationships/slide" Target="/ppt/slides/slide2.xml" Id="R3d6d0b143e6744c6" /><Relationship Type="http://schemas.openxmlformats.org/officeDocument/2006/relationships/slide" Target="/ppt/slides/slide3.xml" Id="Rc4ab0c602e184595" /><Relationship Type="http://schemas.openxmlformats.org/officeDocument/2006/relationships/slide" Target="/ppt/slides/slide4.xml" Id="Rebc4cd2a38d54f3b" /><Relationship Type="http://schemas.openxmlformats.org/officeDocument/2006/relationships/slide" Target="/ppt/slides/slide5.xml" Id="Raf4aec41785c4d36" /><Relationship Type="http://schemas.openxmlformats.org/officeDocument/2006/relationships/slide" Target="/ppt/slides/slide6.xml" Id="R8092a1a240b747f3" /><Relationship Type="http://schemas.openxmlformats.org/officeDocument/2006/relationships/slide" Target="/ppt/slides/slide7.xml" Id="R93d0840ebc0b4179" /><Relationship Type="http://schemas.openxmlformats.org/officeDocument/2006/relationships/slide" Target="/ppt/slides/slide8.xml" Id="R0a12a635069245b7" /><Relationship Type="http://schemas.openxmlformats.org/officeDocument/2006/relationships/slide" Target="/ppt/slides/slide9.xml" Id="Radeb7767504348aa" /><Relationship Type="http://schemas.openxmlformats.org/officeDocument/2006/relationships/slide" Target="/ppt/slides/slide10.xml" Id="Rf7fde616a23c4a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1da772848444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b13f9857fb49da" /><Relationship Type="http://schemas.openxmlformats.org/officeDocument/2006/relationships/notesMaster" Target="/ppt/notesMasters/notesMaster1.xml" Id="Red82c2e9e1b74b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61c5ebbfb74973" /><Relationship Type="http://schemas.openxmlformats.org/officeDocument/2006/relationships/notesMaster" Target="/ppt/notesMasters/notesMaster1.xml" Id="R532d885587fc43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5ce97e9b204f3d" /><Relationship Type="http://schemas.openxmlformats.org/officeDocument/2006/relationships/notesMaster" Target="/ppt/notesMasters/notesMaster1.xml" Id="R37631a8ff4724d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21ddb8f12045c2" /><Relationship Type="http://schemas.openxmlformats.org/officeDocument/2006/relationships/notesMaster" Target="/ppt/notesMasters/notesMaster1.xml" Id="R3f17a62bb14940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bccd613c694b80" /><Relationship Type="http://schemas.openxmlformats.org/officeDocument/2006/relationships/notesMaster" Target="/ppt/notesMasters/notesMaster1.xml" Id="R74ab8015953040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7b5c635dc44bc9" /><Relationship Type="http://schemas.openxmlformats.org/officeDocument/2006/relationships/notesMaster" Target="/ppt/notesMasters/notesMaster1.xml" Id="Rf6276ef9f7b44a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fca338df1f48d1" /><Relationship Type="http://schemas.openxmlformats.org/officeDocument/2006/relationships/notesMaster" Target="/ppt/notesMasters/notesMaster1.xml" Id="R45a89ce10c2946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c84172bf41455a" /><Relationship Type="http://schemas.openxmlformats.org/officeDocument/2006/relationships/notesMaster" Target="/ppt/notesMasters/notesMaster1.xml" Id="Rbade8c94233349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c1a1bf95e94d43" /><Relationship Type="http://schemas.openxmlformats.org/officeDocument/2006/relationships/notesMaster" Target="/ppt/notesMasters/notesMaster1.xml" Id="Re2531b957b9247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3f26ac9989405e" /><Relationship Type="http://schemas.openxmlformats.org/officeDocument/2006/relationships/notesMaster" Target="/ppt/notesMasters/notesMaster1.xml" Id="Rfe77476fb39943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repository and project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product framing and UI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screenshot captured from the current Vite landing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architecture and contract lifecycle.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Product-pattern comparison based on local TRACE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implementation: Arc testnet, USDC escrow and fee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security model and known production gaps.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test and deployment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readiness assessment from current project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roadmap and current submission goals.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094030fea49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74e1ba6e254dac" /><Relationship Type="http://schemas.openxmlformats.org/officeDocument/2006/relationships/slideLayout" Target="/ppt/slideLayouts/slideLayout1.xml" Id="Re5f4eb5ef82944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f4eb5ef82944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d7631d72247d0" /><Relationship Type="http://schemas.openxmlformats.org/officeDocument/2006/relationships/notesSlide" Target="/ppt/notesSlides/notesSlide1.xml" Id="R093c1b6c0a244c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b83dadaff4cb0" /><Relationship Type="http://schemas.openxmlformats.org/officeDocument/2006/relationships/notesSlide" Target="/ppt/notesSlides/notesSlide2.xml" Id="Rbd4c2ecf99a648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5ba94e00f44c5" /><Relationship Type="http://schemas.openxmlformats.org/officeDocument/2006/relationships/image" Target="/ppt/media/image.jpeg" Id="Rc5bd6c099e194777" /><Relationship Type="http://schemas.openxmlformats.org/officeDocument/2006/relationships/notesSlide" Target="/ppt/notesSlides/notesSlide3.xml" Id="R2d6ab75b5ea54c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9272e59964eba" /><Relationship Type="http://schemas.openxmlformats.org/officeDocument/2006/relationships/notesSlide" Target="/ppt/notesSlides/notesSlide4.xml" Id="R73dbc5ffca954a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7fb4596974cca" /><Relationship Type="http://schemas.openxmlformats.org/officeDocument/2006/relationships/notesSlide" Target="/ppt/notesSlides/notesSlide5.xml" Id="Rd43f88334f6f46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dd009be2449b8" /><Relationship Type="http://schemas.openxmlformats.org/officeDocument/2006/relationships/notesSlide" Target="/ppt/notesSlides/notesSlide6.xml" Id="Ra507673b4f1b4e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ebeac014d4882" /><Relationship Type="http://schemas.openxmlformats.org/officeDocument/2006/relationships/notesSlide" Target="/ppt/notesSlides/notesSlide7.xml" Id="R8787df46405049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73c773d4e4eed" /><Relationship Type="http://schemas.openxmlformats.org/officeDocument/2006/relationships/notesSlide" Target="/ppt/notesSlides/notesSlide8.xml" Id="R2959660ff09c42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7110bb2a04daa" /><Relationship Type="http://schemas.openxmlformats.org/officeDocument/2006/relationships/notesSlide" Target="/ppt/notesSlides/notesSlide9.xml" Id="R75e97e74ecba4a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713d2f03240c6" /><Relationship Type="http://schemas.openxmlformats.org/officeDocument/2006/relationships/notesSlide" Target="/ppt/notesSlides/notesSlide10.xml" Id="Rd65066c8fc23451d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">
            <a:extLst>
              <a:ext uri="{FF2B5EF4-FFF2-40B4-BE49-F238E27FC236}">
                <ns2:creationId id="{F4CB5C95-EE9D-471B-B795-05C399AF41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23D8C714-7AA3-4F25-A78F-343453B657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w="0">
            <a:noFill/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951365A9-9C02-4906-8013-F6CD5E203C56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050505"/>
          </a:solidFill>
          <a:ln w="9525">
            <a:solidFill>
              <a:srgbClr val="050505"/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A32AF21A-92BB-4CC8-9F2A-1DBFB6634585}"/>
              </a:ext>
            </a:extLst>
          </p:cNvPr>
          <p:cNvSpPr>
            <a:spLocks noGrp="1"/>
          </p:cNvSpPr>
          <p:nvPr/>
        </p:nvSpPr>
        <p:spPr>
          <a:xfrm>
            <a:off x="685800" y="736854"/>
            <a:ext cx="495300" cy="2724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55" b="1">
                <a:solidFill>
                  <a:srgbClr val="FFFFFF"/>
                </a:solidFill>
              </a:defRPr>
            </a:pPr>
            <a:r>
              <a:rPr sz="1755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5" name="">
            <a:extLst>
              <a:ext uri="{FF2B5EF4-FFF2-40B4-BE49-F238E27FC236}">
                <ns2:creationId id="{23AB3B85-3C19-4BC3-B5DC-85A44C5CCA3D}"/>
              </a:ext>
            </a:extLst>
          </p:cNvPr>
          <p:cNvSpPr>
            <a:spLocks noGrp="1"/>
          </p:cNvSpPr>
          <p:nvPr/>
        </p:nvSpPr>
        <p:spPr>
          <a:xfrm>
            <a:off x="1333500" y="68580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TRACE</a:t>
            </a:r>
          </a:p>
        </p:txBody>
      </p:sp>
      <p:sp>
        <p:nvSpPr>
          <p:cNvPr id="6" name="">
            <a:extLst>
              <a:ext uri="{FF2B5EF4-FFF2-40B4-BE49-F238E27FC236}">
                <ns2:creationId id="{88BD5EA9-4605-4572-BF58-1D792CABF74C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2B2644"/>
                </a:solidFill>
              </a:defRPr>
            </a:pPr>
            <a:r>
              <a:rPr sz="2400" b="1">
                <a:solidFill>
                  <a:srgbClr val="2B2644"/>
                </a:solidFill>
              </a:rPr>
              <a:t>Trusted Recipient Arc Claim Escrow</a:t>
            </a:r>
          </a:p>
        </p:txBody>
      </p:sp>
      <p:sp>
        <p:nvSpPr>
          <p:cNvPr id="7" name="">
            <a:extLst>
              <a:ext uri="{FF2B5EF4-FFF2-40B4-BE49-F238E27FC236}">
                <ns2:creationId id="{F3943249-533E-40F8-9EC7-ED337635BC7E}"/>
              </a:ext>
            </a:extLst>
          </p:cNvPr>
          <p:cNvSpPr>
            <a:spLocks noGrp="1"/>
          </p:cNvSpPr>
          <p:nvPr/>
        </p:nvSpPr>
        <p:spPr>
          <a:xfrm>
            <a:off x="685800" y="2628900"/>
            <a:ext cx="685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050" b="1">
                <a:solidFill>
                  <a:srgbClr val="050505"/>
                </a:solidFill>
              </a:defRPr>
            </a:pPr>
            <a:r>
              <a:rPr sz="4050" b="1">
                <a:solidFill>
                  <a:srgbClr val="050505"/>
                </a:solidFill>
              </a:rPr>
              <a:t>Send USDC to an X identity. Claim with proof.</a:t>
            </a:r>
          </a:p>
        </p:txBody>
      </p:sp>
      <p:sp>
        <p:nvSpPr>
          <p:cNvPr id="8" name="">
            <a:extLst>
              <a:ext uri="{FF2B5EF4-FFF2-40B4-BE49-F238E27FC236}">
                <ns2:creationId id="{A008B094-8B8B-4464-8A30-81C97D5EFCA7}"/>
              </a:ext>
            </a:extLst>
          </p:cNvPr>
          <p:cNvSpPr>
            <a:spLocks noGrp="1"/>
          </p:cNvSpPr>
          <p:nvPr/>
        </p:nvSpPr>
        <p:spPr>
          <a:xfrm>
            <a:off x="723900" y="388500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B5B62"/>
                </a:solidFill>
              </a:defRPr>
            </a:pPr>
            <a:r>
              <a:rPr sz="1350">
                <a:solidFill>
                  <a:srgbClr val="5B5B62"/>
                </a:solidFill>
              </a:rPr>
              <a:t>Non-custodial Arc escrow for handle-based USDC payments.</a:t>
            </a:r>
          </a:p>
        </p:txBody>
      </p:sp>
      <p:sp>
        <p:nvSpPr>
          <p:cNvPr id="9" name="">
            <a:extLst>
              <a:ext uri="{FF2B5EF4-FFF2-40B4-BE49-F238E27FC236}">
                <ns2:creationId id="{520BD2E2-725A-4881-A97A-8FA2027C6C24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6E6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1FADBB93-C744-4581-A542-78B7BFCEB338}"/>
              </a:ext>
            </a:extLst>
          </p:cNvPr>
          <p:cNvSpPr>
            <a:spLocks noGrp="1"/>
          </p:cNvSpPr>
          <p:nvPr/>
        </p:nvSpPr>
        <p:spPr>
          <a:xfrm>
            <a:off x="819150" y="4476750"/>
            <a:ext cx="1352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create escrow</a:t>
            </a:r>
          </a:p>
        </p:txBody>
      </p:sp>
      <p:sp>
        <p:nvSpPr>
          <p:cNvPr id="11" name="">
            <a:extLst>
              <a:ext uri="{FF2B5EF4-FFF2-40B4-BE49-F238E27FC236}">
                <ns2:creationId id="{C2843C83-4BD1-4DD6-877B-3785F1C706D7}"/>
              </a:ext>
            </a:extLst>
          </p:cNvPr>
          <p:cNvSpPr>
            <a:spLocks noGrp="1"/>
          </p:cNvSpPr>
          <p:nvPr/>
        </p:nvSpPr>
        <p:spPr>
          <a:xfrm>
            <a:off x="2457450" y="440055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6E6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F5447DB3-20A6-453E-B510-EE8B29077C13}"/>
              </a:ext>
            </a:extLst>
          </p:cNvPr>
          <p:cNvSpPr>
            <a:spLocks noGrp="1"/>
          </p:cNvSpPr>
          <p:nvPr/>
        </p:nvSpPr>
        <p:spPr>
          <a:xfrm>
            <a:off x="2590800" y="4476750"/>
            <a:ext cx="154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verify X + wallet</a:t>
            </a:r>
          </a:p>
        </p:txBody>
      </p:sp>
      <p:sp>
        <p:nvSpPr>
          <p:cNvPr id="13" name="">
            <a:extLst>
              <a:ext uri="{FF2B5EF4-FFF2-40B4-BE49-F238E27FC236}">
                <ns2:creationId id="{457707C1-3CC5-423D-9DBB-1C4A5EAD85DD}"/>
              </a:ext>
            </a:extLst>
          </p:cNvPr>
          <p:cNvSpPr>
            <a:spLocks noGrp="1"/>
          </p:cNvSpPr>
          <p:nvPr/>
        </p:nvSpPr>
        <p:spPr>
          <a:xfrm>
            <a:off x="4419600" y="44005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6E6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A1FA69E6-F9F5-45D5-988D-12FB430A043A}"/>
              </a:ext>
            </a:extLst>
          </p:cNvPr>
          <p:cNvSpPr>
            <a:spLocks noGrp="1"/>
          </p:cNvSpPr>
          <p:nvPr/>
        </p:nvSpPr>
        <p:spPr>
          <a:xfrm>
            <a:off x="4552950" y="447675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claim / refund</a:t>
            </a:r>
          </a:p>
        </p:txBody>
      </p:sp>
      <p:sp>
        <p:nvSpPr>
          <p:cNvPr id="15" name="">
            <a:extLst>
              <a:ext uri="{FF2B5EF4-FFF2-40B4-BE49-F238E27FC236}">
                <ns2:creationId id="{C855CCBD-56D7-4E02-AF2A-2F5F39896E84}"/>
              </a:ext>
            </a:extLst>
          </p:cNvPr>
          <p:cNvSpPr>
            <a:spLocks noGrp="1"/>
          </p:cNvSpPr>
          <p:nvPr/>
        </p:nvSpPr>
        <p:spPr>
          <a:xfrm>
            <a:off x="8020050" y="1219200"/>
            <a:ext cx="2857500" cy="3714750"/>
          </a:xfrm>
          <a:prstGeom prst="roundRect">
            <a:avLst>
              <a:gd name="adj" fmla="val 5333"/>
            </a:avLst>
          </a:prstGeom>
          <a:solidFill>
            <a:srgbClr val="050505"/>
          </a:solidFill>
          <a:ln w="9525">
            <a:solidFill>
              <a:srgbClr val="050505"/>
            </a:solidFill>
            <a:prstDash val="solid"/>
          </a:ln>
        </p:spPr>
        <p:style>
          <a:lnRef idx="0"/>
          <a:fillRef idx="0"/>
          <a:effectRef idx="4"/>
          <a:fontRef idx="major"/>
        </p:style>
      </p:sp>
      <p:sp>
        <p:nvSpPr>
          <p:cNvPr id="16" name="">
            <a:extLst>
              <a:ext uri="{FF2B5EF4-FFF2-40B4-BE49-F238E27FC236}">
                <ns2:creationId id="{095A8CDE-C047-4869-ACB8-ACD102BD67FB}"/>
              </a:ext>
            </a:extLst>
          </p:cNvPr>
          <p:cNvSpPr>
            <a:spLocks noGrp="1"/>
          </p:cNvSpPr>
          <p:nvPr/>
        </p:nvSpPr>
        <p:spPr>
          <a:xfrm>
            <a:off x="9182100" y="2419350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050505"/>
          </a:solidFill>
          <a:ln w="9525">
            <a:solidFill>
              <a:srgbClr val="050505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27628A59-0AF2-46D6-9B56-3EE83DAD3F78}"/>
              </a:ext>
            </a:extLst>
          </p:cNvPr>
          <p:cNvSpPr>
            <a:spLocks noGrp="1"/>
          </p:cNvSpPr>
          <p:nvPr/>
        </p:nvSpPr>
        <p:spPr>
          <a:xfrm>
            <a:off x="9182100" y="2529078"/>
            <a:ext cx="609600" cy="335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60" b="1">
                <a:solidFill>
                  <a:srgbClr val="FFFFFF"/>
                </a:solidFill>
              </a:defRPr>
            </a:pPr>
            <a:r>
              <a:rPr sz="2160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18" name="">
            <a:extLst>
              <a:ext uri="{FF2B5EF4-FFF2-40B4-BE49-F238E27FC236}">
                <ns2:creationId id="{2B644596-DD79-4304-A2FD-AFF59AA67C8D}"/>
              </a:ext>
            </a:extLst>
          </p:cNvPr>
          <p:cNvSpPr>
            <a:spLocks noGrp="1"/>
          </p:cNvSpPr>
          <p:nvPr/>
        </p:nvSpPr>
        <p:spPr>
          <a:xfrm>
            <a:off x="8401050" y="3524250"/>
            <a:ext cx="209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identity proof + wallet proof + Arc settlement</a:t>
            </a:r>
          </a:p>
        </p:txBody>
      </p:sp>
      <p:sp>
        <p:nvSpPr>
          <p:cNvPr id="19" name="">
            <a:extLst>
              <a:ext uri="{FF2B5EF4-FFF2-40B4-BE49-F238E27FC236}">
                <ns2:creationId id="{61348628-6023-4702-830F-B9AC6DE305D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20" name="">
            <a:extLst>
              <a:ext uri="{FF2B5EF4-FFF2-40B4-BE49-F238E27FC236}">
                <ns2:creationId id="{C97FA042-2A30-468B-8761-D25946401099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01</a:t>
            </a:r>
          </a:p>
        </p:txBody>
      </p:sp>
    </p:spTree>
    <p:extLst>
      <p:ext uri="{BB962C8B-B14F-4D97-AF65-F5344CB8AC3E}">
        <ns3:creationId val="1537377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696D87-0F8D-4E6E-B3C9-590C95C0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5DBEC-19E0-4001-93E2-C0CC3BE6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AFB7B-54D0-4E76-84D7-22A5B7F8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2739C-11A9-43D7-A11D-FD6E0070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Stablecoin payments still depend on wallet addresses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1B3C2-4EFE-4FC2-B35A-2DBE2A1B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Coordination happens through social identity; settlement still asks for a wallet first.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55903-5DEA-4D3E-BF13-465D7E4B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8A44F-0CBB-4E22-AA42-7E316D2A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Payout stalls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C4BE1-94F3-453F-8F05-D88D0FE7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The sender cannot act until the recipient shares a wallet address.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51174-DB9F-45C0-B4EE-1F52D9D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C4771-E252-4D3B-91B1-DE34B714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71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Address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A611D-A34E-4AD6-8C36-BC4C5707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338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C5D8"/>
                </a:solidFill>
              </a:defRPr>
            </a:pPr>
            <a:r>
              <a:rPr sz="1200">
                <a:solidFill>
                  <a:srgbClr val="C9C5D8"/>
                </a:solidFill>
              </a:rPr>
              <a:t>Copy/paste errors and impersonation are hard to catch before sending.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76666-5DFD-4BFA-A2A8-B4D9A47D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E4AA2-98BD-4A2D-840A-543767C8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No recovery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079BF-FE84-4A73-B0AA-2BAD38A4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338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A direct transfer has no clean cancel or expiry path when context changes.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F4188-875C-4FDA-B8A4-F7F16261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B2644"/>
                </a:solidFill>
              </a:defRPr>
            </a:pPr>
            <a:r>
              <a:rPr sz="1875" b="1">
                <a:solidFill>
                  <a:srgbClr val="2B2644"/>
                </a:solidFill>
              </a:rPr>
              <a:t>TRACE starts from the identity the sender already knows.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7ED78-88CF-4A01-8EEE-704E9E55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A29EC9-7F91-41A7-8A37-AE3BC420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26861186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2024881B-68D6-4AB9-8A27-A256E569A0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748BF280-32F5-47AF-82E3-17A5824FE7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w="0">
            <a:noFill/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3F08A4E4-AE75-46D8-9FB1-92A59F77D56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MECHANICS</a:t>
            </a:r>
          </a:p>
        </p:txBody>
      </p:sp>
      <p:sp>
        <p:nvSpPr>
          <p:cNvPr id="4" name="">
            <a:extLst>
              <a:ext uri="{FF2B5EF4-FFF2-40B4-BE49-F238E27FC236}">
                <ns2:creationId id="{843289BB-9546-4E2A-BEF6-9A86D9AC4E22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8858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A claim is valid only when three facts match</a:t>
            </a:r>
          </a:p>
        </p:txBody>
      </p:sp>
      <p:sp>
        <p:nvSpPr>
          <p:cNvPr id="5" name="">
            <a:extLst>
              <a:ext uri="{FF2B5EF4-FFF2-40B4-BE49-F238E27FC236}">
                <ns2:creationId id="{E020BD1A-A5B9-497E-AA07-A4EED06717CC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TRACE releases USDC only after identity proof, wallet proof and payment data align.</a:t>
            </a:r>
          </a:p>
        </p:txBody>
      </p:sp>
      <p:sp>
        <p:nvSpPr>
          <p:cNvPr id="17" name="Mechanic card 1">
            <a:extLst>
              <a:ext uri="{FF2B5EF4-FFF2-40B4-BE49-F238E27FC236}">
                <ns2:creationId id="{385DDA3C-39B9-4C36-A1EB-EB515C3F3289}"/>
              </a:ext>
            </a:extLst>
          </p:cNvPr>
          <p:cNvSpPr>
            <a:spLocks noGrp="1"/>
          </p:cNvSpPr>
          <p:nvPr/>
        </p:nvSpPr>
        <p:spPr>
          <a:xfrm>
            <a:off x="1000000" y="2980000"/>
            <a:ext cx="2900000" cy="16800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9D6E6"/>
            </a:solidFill>
            <a:prstDash val="solid"/>
          </a:ln>
        </p:spPr>
        <p:style>
          <a:lnRef idx="0"/>
          <a:fillRef idx="0"/>
          <a:effectRef idx="4"/>
          <a:fontRef idx="major"/>
        </p:style>
      </p:sp>
      <p:sp>
        <p:nvSpPr>
          <p:cNvPr id="18" name="Mechanic title 1">
            <a:extLst>
              <a:ext uri="{FF2B5EF4-FFF2-40B4-BE49-F238E27FC236}">
                <ns2:creationId id="{F839DAA5-36D2-4E4C-8A2D-04BA3B44D33C}"/>
              </a:ext>
            </a:extLst>
          </p:cNvPr>
          <p:cNvSpPr>
            <a:spLocks noGrp="1"/>
          </p:cNvSpPr>
          <p:nvPr/>
        </p:nvSpPr>
        <p:spPr>
          <a:xfrm>
            <a:off x="1260000" y="3260000"/>
            <a:ext cx="2350000" cy="33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Identity lock</a:t>
            </a:r>
          </a:p>
        </p:txBody>
      </p:sp>
      <p:sp>
        <p:nvSpPr>
          <p:cNvPr id="19" name="Mechanic body 1">
            <a:extLst>
              <a:ext uri="{FF2B5EF4-FFF2-40B4-BE49-F238E27FC236}">
                <ns2:creationId id="{A7581E26-74B4-4CF8-B63D-F87E5F74BB8A}"/>
              </a:ext>
            </a:extLst>
          </p:cNvPr>
          <p:cNvSpPr>
            <a:spLocks noGrp="1"/>
          </p:cNvSpPr>
          <p:nvPr/>
        </p:nvSpPr>
        <p:spPr>
          <a:xfrm>
            <a:off x="1260000" y="3720000"/>
            <a:ext cx="2300000" cy="6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Payment is created against an X recipient identifier before any wallet address is known.</a:t>
            </a:r>
          </a:p>
        </p:txBody>
      </p:sp>
      <p:sp>
        <p:nvSpPr>
          <p:cNvPr id="20" name="Mechanic card 2">
            <a:extLst>
              <a:ext uri="{FF2B5EF4-FFF2-40B4-BE49-F238E27FC236}">
                <ns2:creationId id="{385DDA3C-39B9-4C36-A1EB-EB515C3F3289}"/>
              </a:ext>
            </a:extLst>
          </p:cNvPr>
          <p:cNvSpPr>
            <a:spLocks noGrp="1"/>
          </p:cNvSpPr>
          <p:nvPr/>
        </p:nvSpPr>
        <p:spPr>
          <a:xfrm>
            <a:off x="4590000" y="2980000"/>
            <a:ext cx="2900000" cy="1680000"/>
          </a:xfrm>
          <a:prstGeom prst="roundRect">
            <a:avLst>
              <a:gd name="adj" fmla="val 12121"/>
            </a:avLst>
          </a:prstGeom>
          <a:solidFill>
            <a:srgbClr val="EEE8FF"/>
          </a:solidFill>
          <a:ln w="9525">
            <a:solidFill>
              <a:srgbClr val="D9D6E6"/>
            </a:solidFill>
            <a:prstDash val="solid"/>
          </a:ln>
        </p:spPr>
        <p:style>
          <a:lnRef idx="0"/>
          <a:fillRef idx="0"/>
          <a:effectRef idx="4"/>
          <a:fontRef idx="major"/>
        </p:style>
      </p:sp>
      <p:sp>
        <p:nvSpPr>
          <p:cNvPr id="21" name="Mechanic title 2">
            <a:extLst>
              <a:ext uri="{FF2B5EF4-FFF2-40B4-BE49-F238E27FC236}">
                <ns2:creationId id="{F839DAA5-36D2-4E4C-8A2D-04BA3B44D33C}"/>
              </a:ext>
            </a:extLst>
          </p:cNvPr>
          <p:cNvSpPr>
            <a:spLocks noGrp="1"/>
          </p:cNvSpPr>
          <p:nvPr/>
        </p:nvSpPr>
        <p:spPr>
          <a:xfrm>
            <a:off x="4850000" y="3260000"/>
            <a:ext cx="2350000" cy="33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Wallet proof</a:t>
            </a:r>
          </a:p>
        </p:txBody>
      </p:sp>
      <p:sp>
        <p:nvSpPr>
          <p:cNvPr id="22" name="Mechanic body 2">
            <a:extLst>
              <a:ext uri="{FF2B5EF4-FFF2-40B4-BE49-F238E27FC236}">
                <ns2:creationId id="{A7581E26-74B4-4CF8-B63D-F87E5F74BB8A}"/>
              </a:ext>
            </a:extLst>
          </p:cNvPr>
          <p:cNvSpPr>
            <a:spLocks noGrp="1"/>
          </p:cNvSpPr>
          <p:nvPr/>
        </p:nvSpPr>
        <p:spPr>
          <a:xfrm>
            <a:off x="4850000" y="3720000"/>
            <a:ext cx="2300000" cy="6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The recipient proves X account control and signs a challenge with the claiming wallet.</a:t>
            </a:r>
          </a:p>
        </p:txBody>
      </p:sp>
      <p:sp>
        <p:nvSpPr>
          <p:cNvPr id="23" name="Mechanic card 3">
            <a:extLst>
              <a:ext uri="{FF2B5EF4-FFF2-40B4-BE49-F238E27FC236}">
                <ns2:creationId id="{385DDA3C-39B9-4C36-A1EB-EB515C3F3289}"/>
              </a:ext>
            </a:extLst>
          </p:cNvPr>
          <p:cNvSpPr>
            <a:spLocks noGrp="1"/>
          </p:cNvSpPr>
          <p:nvPr/>
        </p:nvSpPr>
        <p:spPr>
          <a:xfrm>
            <a:off x="8180000" y="2980000"/>
            <a:ext cx="2900000" cy="16800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9D6E6"/>
            </a:solidFill>
            <a:prstDash val="solid"/>
          </a:ln>
        </p:spPr>
        <p:style>
          <a:lnRef idx="0"/>
          <a:fillRef idx="0"/>
          <a:effectRef idx="4"/>
          <a:fontRef idx="major"/>
        </p:style>
      </p:sp>
      <p:sp>
        <p:nvSpPr>
          <p:cNvPr id="24" name="Mechanic title 3">
            <a:extLst>
              <a:ext uri="{FF2B5EF4-FFF2-40B4-BE49-F238E27FC236}">
                <ns2:creationId id="{F839DAA5-36D2-4E4C-8A2D-04BA3B44D33C}"/>
              </a:ext>
            </a:extLst>
          </p:cNvPr>
          <p:cNvSpPr>
            <a:spLocks noGrp="1"/>
          </p:cNvSpPr>
          <p:nvPr/>
        </p:nvSpPr>
        <p:spPr>
          <a:xfrm>
            <a:off x="8440000" y="3260000"/>
            <a:ext cx="2350000" cy="33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Claim digest</a:t>
            </a:r>
          </a:p>
        </p:txBody>
      </p:sp>
      <p:sp>
        <p:nvSpPr>
          <p:cNvPr id="25" name="Mechanic body 3">
            <a:extLst>
              <a:ext uri="{FF2B5EF4-FFF2-40B4-BE49-F238E27FC236}">
                <ns2:creationId id="{A7581E26-74B4-4CF8-B63D-F87E5F74BB8A}"/>
              </a:ext>
            </a:extLst>
          </p:cNvPr>
          <p:cNvSpPr>
            <a:spLocks noGrp="1"/>
          </p:cNvSpPr>
          <p:nvPr/>
        </p:nvSpPr>
        <p:spPr>
          <a:xfrm>
            <a:off x="8440000" y="3720000"/>
            <a:ext cx="2300000" cy="6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The Arc contract releases USDC only when encoded payment data matches the verified claim.</a:t>
            </a:r>
          </a:p>
        </p:txBody>
      </p:sp>
      <p:sp>
        <p:nvSpPr>
          <p:cNvPr id="26" name="Mechanics invariant card">
            <a:extLst>
              <a:ext uri="{FF2B5EF4-FFF2-40B4-BE49-F238E27FC236}">
                <ns2:creationId id="{385DDA3C-39B9-4C36-A1EB-EB515C3F3289}"/>
              </a:ext>
            </a:extLst>
          </p:cNvPr>
          <p:cNvSpPr>
            <a:spLocks noGrp="1"/>
          </p:cNvSpPr>
          <p:nvPr/>
        </p:nvSpPr>
        <p:spPr>
          <a:xfrm>
            <a:off x="1830000" y="5150000"/>
            <a:ext cx="8550000" cy="560000"/>
          </a:xfrm>
          <a:prstGeom prst="roundRect">
            <a:avLst>
              <a:gd name="adj" fmla="val 12121"/>
            </a:avLst>
          </a:prstGeom>
          <a:solidFill>
            <a:srgbClr val="17151F"/>
          </a:solidFill>
          <a:ln w="9525">
            <a:solidFill>
              <a:srgbClr val="D9D6E6"/>
            </a:solidFill>
            <a:prstDash val="solid"/>
          </a:ln>
        </p:spPr>
        <p:style>
          <a:lnRef idx="0"/>
          <a:fillRef idx="0"/>
          <a:effectRef idx="4"/>
          <a:fontRef idx="major"/>
        </p:style>
      </p:sp>
      <p:sp>
        <p:nvSpPr>
          <p:cNvPr id="27" name="Mechanics invariant text">
            <a:extLst>
              <a:ext uri="{FF2B5EF4-FFF2-40B4-BE49-F238E27FC236}">
                <ns2:creationId id="{F839DAA5-36D2-4E4C-8A2D-04BA3B44D33C}"/>
              </a:ext>
            </a:extLst>
          </p:cNvPr>
          <p:cNvSpPr>
            <a:spLocks noGrp="1"/>
          </p:cNvSpPr>
          <p:nvPr/>
        </p:nvSpPr>
        <p:spPr>
          <a:xfrm>
            <a:off x="2120000" y="5300000"/>
            <a:ext cx="7970000" cy="29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Invariant: backend can verify identity, but Arc transactions define payment state.</a:t>
            </a:r>
          </a:p>
        </p:txBody>
      </p:sp>
      <p:sp>
        <p:nvSpPr>
          <p:cNvPr id="14" name="">
            <a:extLst>
              <a:ext uri="{FF2B5EF4-FFF2-40B4-BE49-F238E27FC236}">
                <ns2:creationId id="{8174EF9D-581B-4650-AD29-FA569C3E8E5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15" name="">
            <a:extLst>
              <a:ext uri="{FF2B5EF4-FFF2-40B4-BE49-F238E27FC236}">
                <ns2:creationId id="{2D156336-AEF1-43A4-9258-4E702E000E53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03</a:t>
            </a:r>
          </a:p>
        </p:txBody>
      </p:sp>
    </p:spTree>
    <p:extLst>
      <p:ext uri="{BB962C8B-B14F-4D97-AF65-F5344CB8AC3E}">
        <ns3:creationId val="2323104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F90AAD-77B4-4B71-A234-39B58C3D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E4D11-6966-49B8-88E1-2686DA91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ACDAB-0B35-431E-B380-FEFE26E8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470FA-8F7B-45DA-AC5F-BDA38EF9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TRACE separates intent, custody and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A0601-CBB5-4028-8F43-A5A24ADD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The sender can act immediately while settlement waits for proof.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98231-D053-4805-8859-607FD563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FA52-F970-4830-9050-65E6C09F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X identity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CE8B2-5CF5-4E17-B657-238E1327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914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Recipient is addressed by a known public handle.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12BC8-36C0-40D8-A3A3-6FC1D68D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0515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AA365-9FFF-4DEC-A0BA-1C6237FA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337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Arc escrow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4470D-2904-4F84-82D4-6230C9AD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95700"/>
            <a:ext cx="1914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C5D8"/>
                </a:solidFill>
              </a:defRPr>
            </a:pPr>
            <a:r>
              <a:rPr sz="1200">
                <a:solidFill>
                  <a:srgbClr val="C9C5D8"/>
                </a:solidFill>
              </a:rPr>
              <a:t>USDC custody sits in the contract lifecycle.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8E297-A71C-4049-983F-A0D4AE35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83D8C-F99C-4ED6-AC96-007A9859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37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Wallet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B0832-B31B-409C-8D29-E102E0D8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5700"/>
            <a:ext cx="1914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Recipient signs a wallet challenge after OAuth.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D89AE-38F8-4DA2-8CC2-62B2A432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0515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45279D-4624-4498-BD90-9EEFC1AB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3337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Settlement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A4DEF1-0BAA-4BE1-A2C2-18E36D3D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695700"/>
            <a:ext cx="1914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Claim, cancel or refund closes the route.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A6EC1-EACE-48CA-B962-C8E96A29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B2644"/>
                </a:solidFill>
              </a:defRPr>
            </a:pPr>
            <a:r>
              <a:rPr sz="1725" b="1">
                <a:solidFill>
                  <a:srgbClr val="2B2644"/>
                </a:solidFill>
              </a:rPr>
              <a:t>The backend indexes state; verified Arc transactions settle funds.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9C22D7-336C-4B20-9B40-0C6A87BF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64324E-E603-4764-A892-A04E1FCA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385170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9FAAFE-7C82-493C-8025-5DBF7DFC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F0E3E-FAD6-4D9B-9092-D46D42E2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D2B1D-C56D-4583-9BB2-041F7DF8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WHY TRACE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3C30E-07A2-4828-A1F9-2A13C634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It is a claim lifecycle, not just address lookup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A24B5-038A-4F0F-AF14-25601295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The moat is recoverable, proof-bound USDC settlement.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AEFCD-CC02-4B5B-8C12-D8607047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10096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E2E47-4830-49C8-A03F-7E442E61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861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50505"/>
                </a:solidFill>
              </a:defRPr>
            </a:pPr>
            <a:r>
              <a:rPr sz="1275" b="1">
                <a:solidFill>
                  <a:srgbClr val="050505"/>
                </a:solidFill>
              </a:rPr>
              <a:t>Direct transfer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1211C-3E46-4B40-9EC3-D4D8F777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8612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Fast only when the address is already known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CDDB9-6B84-4A3B-B7D6-E4728BE9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86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5B62"/>
                </a:solidFill>
              </a:defRPr>
            </a:pPr>
            <a:r>
              <a:rPr sz="1200" b="0">
                <a:solidFill>
                  <a:srgbClr val="5B5B62"/>
                </a:solidFill>
              </a:rPr>
              <a:t>No identity claim / weak recovery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0A8C1-569F-4820-BCF6-E7F66B1F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10096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43A26-9B8D-4D7F-9F44-831494C0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100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50505"/>
                </a:solidFill>
              </a:defRPr>
            </a:pPr>
            <a:r>
              <a:rPr sz="1275" b="1">
                <a:solidFill>
                  <a:srgbClr val="050505"/>
                </a:solidFill>
              </a:rPr>
              <a:t>Custodial handle pay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D3876-2893-4295-8F61-DDAEB561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1002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Smooth UX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E8DCE-1257-4907-A0C3-5266B23E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10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5B62"/>
                </a:solidFill>
              </a:defRPr>
            </a:pPr>
            <a:r>
              <a:rPr sz="1200" b="0">
                <a:solidFill>
                  <a:srgbClr val="5B5B62"/>
                </a:solidFill>
              </a:rPr>
              <a:t>Custody and platform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BE421A-9892-4B53-AA33-C0C6D00C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10096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8F4647-8277-4A25-A852-30FC30D4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339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31518-0775-4841-BF15-91504F89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3392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8D4E8"/>
                </a:solidFill>
              </a:defRPr>
            </a:pPr>
            <a:r>
              <a:rPr sz="1200">
                <a:solidFill>
                  <a:srgbClr val="D8D4E8"/>
                </a:solidFill>
              </a:rPr>
              <a:t>Send now, prove later, recover if needed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B6565-E5CE-47CA-B994-E636096C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339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Non-custodial Arc escrow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050EA-6F80-4CE8-B1B4-0C148017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EC55E-7462-44FC-B55E-F327CA18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354353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5CC2C6-9F18-44B3-8D22-986ED631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5C682-8468-41BB-85D3-866CB1B2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1C18B-C2CC-4AF5-B0F5-D8C590B2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ARC + USDC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016A7-A9CE-4DB8-AF57-68C3E270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The DeFi primitive is programmable stablecoin settlement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310A1-F037-4FAB-8610-CD58E5E9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TRACE uses stablecoin custody, policy and recovery as the product core.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E71F6-031D-4C75-A625-A139311D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286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04105-D08F-41F2-959E-9B2FA044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71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Arc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ABD5DE-0427-4788-8327-DC1ABCB0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3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Execution layer and testnet settlement 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463AB-9528-4530-A2A7-1467D6CD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2286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92B49-C3CC-4498-B473-BF08F11C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71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USDC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0B346-EE54-4A47-B6FF-C8113C81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33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C5D8"/>
                </a:solidFill>
              </a:defRPr>
            </a:pPr>
            <a:r>
              <a:rPr sz="1200">
                <a:solidFill>
                  <a:srgbClr val="C9C5D8"/>
                </a:solidFill>
              </a:rPr>
              <a:t>Principal, claim asset and fee unit.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8F1CC-3452-4E11-90D8-548E9F86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2286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1CAEF-5B55-4108-8534-E168278F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C9524-ED47-4861-9FC5-A8C5770A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33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Identity-bound claim, cancel and expiry.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C3218-401A-436B-8DB9-03B8DB80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43250"/>
            <a:ext cx="2286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66276-E156-4134-8ECF-52FE3335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71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Treasury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0A5FB-EC6F-4833-A71D-2C158474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33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Onchain fee routing while principal remains recoverable.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214556-68C8-4D0B-9A39-7B4ABD44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5852B-3311-4BAD-B6AC-A64F08B8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716878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A580A3-6AAA-4C00-B1BF-AE8AE26D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E13D5-9D9E-4579-AD6A-06339363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F50E6-6C0A-4077-A091-F1320559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SECURITY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B7D69-BB4D-4D09-8342-FB76A15F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Claims require identity, wallet and digest agreement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F788F-1DCD-4CB1-B42A-DFB9E6A8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The product should fail closed when proof or chain state is missing.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30CDE-A041-4CAD-92A8-81A93353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4914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61700-9F6E-478B-B8FA-06665556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9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Recipient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E806C-B967-4D33-9365-FC7834E9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813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B5B62"/>
                </a:solidFill>
              </a:defRPr>
            </a:pPr>
            <a:r>
              <a:rPr sz="1163">
                <a:solidFill>
                  <a:srgbClr val="5B5B62"/>
                </a:solidFill>
              </a:rPr>
              <a:t>X OAuth must match immutable recipient user ID.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E5547-C7A5-4BD7-BAC7-A42A909A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4914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C0821-E705-4F1C-A698-FC9B9B6F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9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Wallet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450D7-A47C-48AD-ACA0-25BC3832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813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B5B62"/>
                </a:solidFill>
              </a:defRPr>
            </a:pPr>
            <a:r>
              <a:rPr sz="1163">
                <a:solidFill>
                  <a:srgbClr val="5B5B62"/>
                </a:solidFill>
              </a:rPr>
              <a:t>Signed challenge binds the destination wallet.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C802D0-FC7C-45E2-90F9-EC897354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4914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8E84A-1F53-410E-AA5E-79998C89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Claim digest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81FC5C-9ABD-47A1-BBE3-7EBAF4F5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195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B5B62"/>
                </a:solidFill>
              </a:defRPr>
            </a:pPr>
            <a:r>
              <a:rPr sz="1163">
                <a:solidFill>
                  <a:srgbClr val="5B5B62"/>
                </a:solidFill>
              </a:rPr>
              <a:t>Payment, wallet, chain, contract and expiry are bound.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CCAD5-663A-4683-AABF-E4B256C3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4914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F29766-1821-482E-A37F-CFAC2565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48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Recovery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D69F21-2268-4DC1-90FD-DF08D5B0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195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B5B62"/>
                </a:solidFill>
              </a:defRPr>
            </a:pPr>
            <a:r>
              <a:rPr sz="1163">
                <a:solidFill>
                  <a:srgbClr val="5B5B62"/>
                </a:solidFill>
              </a:rPr>
              <a:t>Cancel/refund remains available under policy.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AEAE12-B4AA-47C2-A3DA-9B5347D4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4914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CC9AED-E34A-4517-9B69-890E18AA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86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Privacy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6221CC-773C-4A06-8B95-A8325629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6577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B5B62"/>
                </a:solidFill>
              </a:defRPr>
            </a:pPr>
            <a:r>
              <a:rPr sz="1163">
                <a:solidFill>
                  <a:srgbClr val="5B5B62"/>
                </a:solidFill>
              </a:rPr>
              <a:t>Unauthorized API views omit sensitive payment details.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20553-86F7-41DD-9ADB-6D8BFB3F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33900"/>
            <a:ext cx="4914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EAFB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51D0D9-D2CD-4B92-B8F1-A9608DA4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86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Gap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B61542-EADF-4566-89F7-2629BF5C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577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B5B62"/>
                </a:solidFill>
              </a:defRPr>
            </a:pPr>
            <a:r>
              <a:rPr sz="1163">
                <a:solidFill>
                  <a:srgbClr val="5B5B62"/>
                </a:solidFill>
              </a:rPr>
              <a:t>External review and role separation remain required.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AECED9-6C7C-45FC-A8CC-BCD63520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465C96-5E3E-42EC-B7A4-8F88AE79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250873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D1AC02-74EC-4245-A957-9902DE4F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6CD5B-42EE-4BAB-BD85-5FD7E5F6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F7A5A-9727-4D14-9380-2B747D10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F71C7-0947-4A2E-88F1-BC28B042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The working proof is already testable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71BF3-DDF1-469E-BDFD-1F950307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Keep the proof large; long transaction hashes belong in README/explorer links.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71EDF-0D65-432A-BC22-7E236C2E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23241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08C73-4654-4676-932C-2DCA19C3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50505"/>
                </a:solidFill>
              </a:defRPr>
            </a:pPr>
            <a:r>
              <a:rPr sz="2700" b="1">
                <a:solidFill>
                  <a:srgbClr val="050505"/>
                </a:solidFill>
              </a:rPr>
              <a:t>37 / 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ED81E-FFAD-4694-B8CB-94309626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528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5B62"/>
                </a:solidFill>
              </a:defRPr>
            </a:pPr>
            <a:r>
              <a:rPr sz="1125">
                <a:solidFill>
                  <a:srgbClr val="5B5B62"/>
                </a:solidFill>
              </a:rPr>
              <a:t>automated tests passing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6BFD2-0014-4469-A554-DC4893E1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09900"/>
            <a:ext cx="23241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6C813-67C1-4D8D-92A1-AA9AFA9D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B2644"/>
                </a:solidFill>
              </a:defRPr>
            </a:pPr>
            <a:r>
              <a:rPr sz="2700" b="1">
                <a:solidFill>
                  <a:srgbClr val="2B2644"/>
                </a:solidFill>
              </a:rPr>
              <a:t>5042002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387F3-B07E-4D45-9558-E4E7CBE6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528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5B62"/>
                </a:solidFill>
              </a:defRPr>
            </a:pPr>
            <a:r>
              <a:rPr sz="1125">
                <a:solidFill>
                  <a:srgbClr val="5B5B62"/>
                </a:solidFill>
              </a:rPr>
              <a:t>Arc Testnet chain 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C794AA-25BF-4E38-A90A-1FAF0C09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9900"/>
            <a:ext cx="23241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8CB18-F911-4BA8-AA53-9148D372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50505"/>
                </a:solidFill>
              </a:defRPr>
            </a:pPr>
            <a:r>
              <a:rPr sz="2700" b="1">
                <a:solidFill>
                  <a:srgbClr val="050505"/>
                </a:solidFill>
              </a:rPr>
              <a:t>0.50%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2E261-E685-4A4C-9B74-B243FB5C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528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5B62"/>
                </a:solidFill>
              </a:defRPr>
            </a:pPr>
            <a:r>
              <a:rPr sz="1125">
                <a:solidFill>
                  <a:srgbClr val="5B5B62"/>
                </a:solidFill>
              </a:rPr>
              <a:t>minimum protocol fee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2779F-0C8F-4F5D-93B2-6823E06C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09900"/>
            <a:ext cx="23241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04DCA-9D22-4D13-93C3-155CABC8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575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B2644"/>
                </a:solidFill>
              </a:defRPr>
            </a:pPr>
            <a:r>
              <a:rPr sz="2700" b="1">
                <a:solidFill>
                  <a:srgbClr val="2B2644"/>
                </a:solidFill>
              </a:rPr>
              <a:t>3 flows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DD4957-39FD-445E-B312-FB1D117B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528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5B62"/>
                </a:solidFill>
              </a:defRPr>
            </a:pPr>
            <a:r>
              <a:rPr sz="1125">
                <a:solidFill>
                  <a:srgbClr val="5B5B62"/>
                </a:solidFill>
              </a:rPr>
              <a:t>claim, cancel, refund smoke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7C2061-3B2C-402B-BB21-8704052F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33950"/>
            <a:ext cx="93726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1A73F-4CC1-4803-B326-DC16C422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33975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50505"/>
                </a:solidFill>
              </a:defRPr>
            </a:pPr>
            <a:r>
              <a:rPr sz="1350">
                <a:solidFill>
                  <a:srgbClr val="050505"/>
                </a:solidFill>
              </a:rPr>
              <a:t>Contract: 0x5A3949aE67a37e7e37bFC77F5b7832Cc93f40A2a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AAC6D-8B4F-4AEF-A480-45FF5D08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106224-7C48-4619-84CD-D348C7EC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976205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294E6-0E8E-4A3C-9FD1-BADC9BED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E1E2C-8951-42A9-B736-B3BB2B69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9A891-7EC6-411A-A268-8AE475E2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B6A2F-36D1-48A1-B0C8-1CE1AC95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Ready for demo; honest about hardening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0B1F9-700F-44E9-922E-91CC4831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This should be presented as a testnet pilot, not a production launch.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4411E-E57C-4FB4-B25B-EDA9C7FC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7B33A-D418-4E33-BA45-4B0EF56E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71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Ready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15D8C-60CC-4C4D-A628-C28E66F0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338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Deployment, lifecycle evidence and tests.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2F04A-B380-4CC8-B33E-DE9B639B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B44CD-9020-4496-B9CE-F0131110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71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Main risks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DBD89-9027-41BA-B136-B4CAADAE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338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C5D8"/>
                </a:solidFill>
              </a:defRPr>
            </a:pPr>
            <a:r>
              <a:rPr sz="1200">
                <a:solidFill>
                  <a:srgbClr val="C9C5D8"/>
                </a:solidFill>
              </a:rPr>
              <a:t>X API dependency and role/key custody.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07717-AA81-4329-89A8-75DBB96A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1CD27-6911-4662-8022-318DFBD5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71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Before users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0C3F3-A6E7-4D50-B07E-4D80EA82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338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HTTPS, managed DB, E2E, external review.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126F6B-4F58-41F7-9176-9EEAD987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2644"/>
                </a:solidFill>
              </a:defRPr>
            </a:pPr>
            <a:r>
              <a:rPr sz="1650" b="1">
                <a:solidFill>
                  <a:srgbClr val="2B2644"/>
                </a:solidFill>
              </a:rPr>
              <a:t>Honest positioning is stronger than pretending production readiness.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31D6A-80F8-4C06-93E2-5EB5CD77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FB9310-C453-4BD0-B8A2-6DC3F8EA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607581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3FFE6-530E-4607-B1BB-08B0545C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19A21-4F34-45D6-8076-DC081B86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B68AA-E2AE-4DDB-97EC-E183372D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EE2A2-5854-4AFE-8D25-A580EF20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Help turn the proof into a public Arc testnet 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5FA96-25FE-444F-83B3-D2E734F4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The immediate milestone is packaging and verification.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37810-FBB6-4060-8C5A-2CDDD795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DBF78-9469-4BAE-8857-55A356C0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Feedback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BAE0B-D808-4C90-868E-1E51E3FC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Arc/Circle fit, security model and DeFi-track positioning.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A6CCC-C2DB-4867-9AD7-A59B51C3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2420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4338F-F63D-4BBB-8419-243DC392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528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Public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64CC6-E3AA-4539-9E87-F74EAD48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147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C5D8"/>
                </a:solidFill>
              </a:defRPr>
            </a:pPr>
            <a:r>
              <a:rPr sz="1200">
                <a:solidFill>
                  <a:srgbClr val="C9C5D8"/>
                </a:solidFill>
              </a:rPr>
              <a:t>HTTPS demo, CI, explorer links and release tag.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58484-ACF7-456A-A2A7-E72C07C6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2420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836F6-B05B-4C47-ABD5-40A17973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528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Hardening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11DB2-3695-4DB9-BBD9-EB2F475B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147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Two-account X E2E, role separation and external review.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CDAA04-013B-4E1F-B025-F08D15A4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48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TRACE is focused: send USDC to an identity now, settle to a verified wallet later.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44504B-116A-49D9-9B21-518AAC18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BD5A4F-C469-4016-8036-2E65BE87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15473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2026-07-24T09:38:44.7790000Z</dcterms:created>
  <dcterms:modified xsi:type="dcterms:W3CDTF">2026-07-24T09:38:44.7790000Z</dcterms:modified>
</coreProperties>
</file>