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636e958af24b29" /><Relationship Type="http://schemas.openxmlformats.org/officeDocument/2006/relationships/extended-properties" Target="/docProps/app.xml" Id="R04c0b7150b4a44c3" /><Relationship Type="http://schemas.openxmlformats.org/officeDocument/2006/relationships/officeDocument" Target="/ppt/presentation.xml" Id="R9138855c1be947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5d4067831e42ec"/>
  </p:sldMasterIdLst>
  <p:notesMasterIdLst>
    <p:notesMasterId xmlns:r="http://schemas.openxmlformats.org/officeDocument/2006/relationships" r:id="R6b71c83ef9b74ee3"/>
  </p:notesMasterIdLst>
  <p:sldIdLst>
    <p:sldId xmlns:r="http://schemas.openxmlformats.org/officeDocument/2006/relationships" id="256" r:id="Rf2683cf6c9d346c6"/>
    <p:sldId xmlns:r="http://schemas.openxmlformats.org/officeDocument/2006/relationships" id="257" r:id="R3d6d0b143e6744c6"/>
    <p:sldId xmlns:r="http://schemas.openxmlformats.org/officeDocument/2006/relationships" id="258" r:id="Rc4ab0c602e184595"/>
    <p:sldId xmlns:r="http://schemas.openxmlformats.org/officeDocument/2006/relationships" id="259" r:id="Rebc4cd2a38d54f3b"/>
    <p:sldId xmlns:r="http://schemas.openxmlformats.org/officeDocument/2006/relationships" id="260" r:id="Raf4aec41785c4d36"/>
    <p:sldId xmlns:r="http://schemas.openxmlformats.org/officeDocument/2006/relationships" id="261" r:id="R8092a1a240b747f3"/>
    <p:sldId xmlns:r="http://schemas.openxmlformats.org/officeDocument/2006/relationships" id="262" r:id="R93d0840ebc0b4179"/>
    <p:sldId xmlns:r="http://schemas.openxmlformats.org/officeDocument/2006/relationships" id="263" r:id="R0a12a635069245b7"/>
    <p:sldId xmlns:r="http://schemas.openxmlformats.org/officeDocument/2006/relationships" id="264" r:id="Radeb7767504348aa"/>
    <p:sldId xmlns:r="http://schemas.openxmlformats.org/officeDocument/2006/relationships" id="265" r:id="Rf7fde616a23c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f4e6403f549d9" /><Relationship Type="http://schemas.openxmlformats.org/officeDocument/2006/relationships/slideMaster" Target="/ppt/slideMasters/slideMaster1.xml" Id="Rcf5d4067831e42ec" /><Relationship Type="http://schemas.openxmlformats.org/officeDocument/2006/relationships/notesMaster" Target="/ppt/notesMasters/notesMaster1.xml" Id="R6b71c83ef9b74ee3" /><Relationship Type="http://schemas.openxmlformats.org/officeDocument/2006/relationships/presProps" Target="/ppt/presProps.xml" Id="Rc4fae0dde7034506" /><Relationship Type="http://schemas.openxmlformats.org/officeDocument/2006/relationships/tableStyles" Target="/ppt/tableStyles.xml" Id="R99a80c68685f4a55" /><Relationship Type="http://schemas.openxmlformats.org/officeDocument/2006/relationships/slide" Target="/ppt/slides/slide1.xml" Id="Rf2683cf6c9d346c6" /><Relationship Type="http://schemas.openxmlformats.org/officeDocument/2006/relationships/slide" Target="/ppt/slides/slide2.xml" Id="R3d6d0b143e6744c6" /><Relationship Type="http://schemas.openxmlformats.org/officeDocument/2006/relationships/slide" Target="/ppt/slides/slide3.xml" Id="Rc4ab0c602e184595" /><Relationship Type="http://schemas.openxmlformats.org/officeDocument/2006/relationships/slide" Target="/ppt/slides/slide4.xml" Id="Rebc4cd2a38d54f3b" /><Relationship Type="http://schemas.openxmlformats.org/officeDocument/2006/relationships/slide" Target="/ppt/slides/slide5.xml" Id="Raf4aec41785c4d36" /><Relationship Type="http://schemas.openxmlformats.org/officeDocument/2006/relationships/slide" Target="/ppt/slides/slide6.xml" Id="R8092a1a240b747f3" /><Relationship Type="http://schemas.openxmlformats.org/officeDocument/2006/relationships/slide" Target="/ppt/slides/slide7.xml" Id="R93d0840ebc0b4179" /><Relationship Type="http://schemas.openxmlformats.org/officeDocument/2006/relationships/slide" Target="/ppt/slides/slide8.xml" Id="R0a12a635069245b7" /><Relationship Type="http://schemas.openxmlformats.org/officeDocument/2006/relationships/slide" Target="/ppt/slides/slide9.xml" Id="Radeb7767504348aa" /><Relationship Type="http://schemas.openxmlformats.org/officeDocument/2006/relationships/slide" Target="/ppt/slides/slide10.xml" Id="Rf7fde616a23c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da7728484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13f9857fb49da" /><Relationship Type="http://schemas.openxmlformats.org/officeDocument/2006/relationships/notesMaster" Target="/ppt/notesMasters/notesMaster1.xml" Id="Red82c2e9e1b7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1c5ebbfb74973" /><Relationship Type="http://schemas.openxmlformats.org/officeDocument/2006/relationships/notesMaster" Target="/ppt/notesMasters/notesMaster1.xml" Id="R532d885587fc43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ce97e9b204f3d" /><Relationship Type="http://schemas.openxmlformats.org/officeDocument/2006/relationships/notesMaster" Target="/ppt/notesMasters/notesMaster1.xml" Id="R37631a8ff472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1ddb8f12045c2" /><Relationship Type="http://schemas.openxmlformats.org/officeDocument/2006/relationships/notesMaster" Target="/ppt/notesMasters/notesMaster1.xml" Id="R3f17a62bb149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ccd613c694b80" /><Relationship Type="http://schemas.openxmlformats.org/officeDocument/2006/relationships/notesMaster" Target="/ppt/notesMasters/notesMaster1.xml" Id="R74ab80159530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7b5c635dc44bc9" /><Relationship Type="http://schemas.openxmlformats.org/officeDocument/2006/relationships/notesMaster" Target="/ppt/notesMasters/notesMaster1.xml" Id="Rf6276ef9f7b44a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fca338df1f48d1" /><Relationship Type="http://schemas.openxmlformats.org/officeDocument/2006/relationships/notesMaster" Target="/ppt/notesMasters/notesMaster1.xml" Id="R45a89ce10c29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c84172bf41455a" /><Relationship Type="http://schemas.openxmlformats.org/officeDocument/2006/relationships/notesMaster" Target="/ppt/notesMasters/notesMaster1.xml" Id="Rbade8c94233349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c1a1bf95e94d43" /><Relationship Type="http://schemas.openxmlformats.org/officeDocument/2006/relationships/notesMaster" Target="/ppt/notesMasters/notesMaster1.xml" Id="Re2531b957b92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f26ac9989405e" /><Relationship Type="http://schemas.openxmlformats.org/officeDocument/2006/relationships/notesMaster" Target="/ppt/notesMasters/notesMaster1.xml" Id="Rfe77476fb399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repository and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product framing and UI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screenshot captured from the current Vite landing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architecture and contract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Product-pattern comparison based on local TRACE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implementation: Arc testnet, USDC escrow and fee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security model and known production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test and deployment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readiness assessment from current project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roadmap and current submission goals.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094030fea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4e1ba6e254dac" /><Relationship Type="http://schemas.openxmlformats.org/officeDocument/2006/relationships/slideLayout" Target="/ppt/slideLayouts/slideLayout1.xml" Id="Re5f4eb5ef829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4eb5ef829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7631d72247d0" /><Relationship Type="http://schemas.openxmlformats.org/officeDocument/2006/relationships/notesSlide" Target="/ppt/notesSlides/notesSlide1.xml" Id="R093c1b6c0a244c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b83dadaff4cb0" /><Relationship Type="http://schemas.openxmlformats.org/officeDocument/2006/relationships/notesSlide" Target="/ppt/notesSlides/notesSlide2.xml" Id="Rbd4c2ecf99a6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5ba94e00f44c5" /><Relationship Type="http://schemas.openxmlformats.org/officeDocument/2006/relationships/image" Target="/ppt/media/image.jpeg" Id="Rc5bd6c099e194777" /><Relationship Type="http://schemas.openxmlformats.org/officeDocument/2006/relationships/notesSlide" Target="/ppt/notesSlides/notesSlide3.xml" Id="R2d6ab75b5ea54c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9272e59964eba" /><Relationship Type="http://schemas.openxmlformats.org/officeDocument/2006/relationships/notesSlide" Target="/ppt/notesSlides/notesSlide4.xml" Id="R73dbc5ffca95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fb4596974cca" /><Relationship Type="http://schemas.openxmlformats.org/officeDocument/2006/relationships/notesSlide" Target="/ppt/notesSlides/notesSlide5.xml" Id="Rd43f88334f6f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dd009be2449b8" /><Relationship Type="http://schemas.openxmlformats.org/officeDocument/2006/relationships/notesSlide" Target="/ppt/notesSlides/notesSlide6.xml" Id="Ra507673b4f1b4e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ebeac014d4882" /><Relationship Type="http://schemas.openxmlformats.org/officeDocument/2006/relationships/notesSlide" Target="/ppt/notesSlides/notesSlide7.xml" Id="R8787df46405049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73c773d4e4eed" /><Relationship Type="http://schemas.openxmlformats.org/officeDocument/2006/relationships/notesSlide" Target="/ppt/notesSlides/notesSlide8.xml" Id="R2959660ff09c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110bb2a04daa" /><Relationship Type="http://schemas.openxmlformats.org/officeDocument/2006/relationships/notesSlide" Target="/ppt/notesSlides/notesSlide9.xml" Id="R75e97e74ecba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13d2f03240c6" /><Relationship Type="http://schemas.openxmlformats.org/officeDocument/2006/relationships/notesSlide" Target="/ppt/notesSlides/notesSlide10.xml" Id="Rd65066c8fc2345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B5C95-EE9D-471B-B795-05C399AF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8C714-7AA3-4F25-A78F-343453B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365A9-9C02-4906-8013-F6CD5E2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AF21A-92BB-4CC8-9F2A-1DBFB66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854"/>
            <a:ext cx="49530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55" b="1">
                <a:solidFill>
                  <a:srgbClr val="FFFFFF"/>
                </a:solidFill>
              </a:defRPr>
            </a:pPr>
            <a:r>
              <a:rPr sz="1755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B3B85-3C19-4BC3-B5DC-85A44C5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858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50505"/>
                </a:solidFill>
              </a:defRPr>
            </a:pPr>
            <a:r>
              <a:rPr sz="2250" b="1">
                <a:solidFill>
                  <a:srgbClr val="050505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D5EA9-4605-4572-BF58-1D792CA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2644"/>
                </a:solidFill>
              </a:defRPr>
            </a:pPr>
            <a:r>
              <a:rPr sz="2400" b="1">
                <a:solidFill>
                  <a:srgbClr val="2B2644"/>
                </a:solidFill>
              </a:rPr>
              <a:t>Trusted Recipient Arc Claim Escrow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43249-533E-40F8-9EC7-ED33763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50505"/>
                </a:solidFill>
              </a:defRPr>
            </a:pPr>
            <a:r>
              <a:rPr sz="4050" b="1">
                <a:solidFill>
                  <a:srgbClr val="050505"/>
                </a:solidFill>
              </a:rPr>
              <a:t>Send USDC to an X identity. Claim with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8B094-8B8B-4464-8A30-81C97D5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5B62"/>
                </a:solidFill>
              </a:defRPr>
            </a:pPr>
            <a:r>
              <a:rPr sz="1350">
                <a:solidFill>
                  <a:srgbClr val="5B5B62"/>
                </a:solidFill>
              </a:rPr>
              <a:t>Non-custodial Arc escrow for handle-based USDC payments.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BD2E2-725A-4881-A97A-8FA2027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DBB93-C744-4581-A542-78B7BFC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create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43C83-4BD1-4DD6-877B-3785F1C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47DB3-20A6-453E-B510-EE8B290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verify X + wallet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707C1-3CC5-423D-9DBB-1C4A5EAD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69E6-F9F5-45D5-988D-12FB430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claim / cancel / 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CCBD-56D7-4E02-AF2A-2F5F398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192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8CDE-C047-4869-ACB8-ACD102BD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19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28A59-0AF2-46D6-9B56-3EE83DA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9078"/>
            <a:ext cx="6096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60" b="1">
                <a:solidFill>
                  <a:srgbClr val="FFFFFF"/>
                </a:solidFill>
              </a:defRPr>
            </a:pPr>
            <a:r>
              <a:rPr sz="216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44596-DD79-4304-A2FD-AFF59AA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identity proof + wallet proof + Arc settlement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48628-6023-4702-830F-B9AC6DE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FA042-2A30-468B-8761-D259464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7377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96D87-0F8D-4E6E-B3C9-590C95C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DBEC-19E0-4001-93E2-C0CC3BE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FB7B-54D0-4E76-84D7-22A5B7F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2739C-11A9-43D7-A11D-FD6E007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Stablecoin payments still depend on wallet addresses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1B3C2-4EFE-4FC2-B35A-2DBE2A1B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Coordination happens through social identity; settlement still asks for a wallet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5903-5DEA-4D3E-BF13-465D7E4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8A44F-0CBB-4E22-AA42-7E316D2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Payout stalls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4BE1-94F3-453F-8F05-D88D0FE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The sender cannot act until the recipient shares a wallet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51174-DB9F-45C0-B4EE-1F52D9D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4771-E252-4D3B-91B1-DE34B71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Address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611D-A34E-4AD6-8C36-BC4C570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Copy/paste errors and impersonation are hard to catch before sending.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76666-5DFD-4BFA-A2A8-B4D9A47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4AA2-98BD-4A2D-840A-543767C8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No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079BF-FE84-4A73-B0AA-2BAD38A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 direct transfer has no clean cancel or expiry path when context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F4188-875C-4FDA-B8A4-F7F1626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B2644"/>
                </a:solidFill>
              </a:defRPr>
            </a:pPr>
            <a:r>
              <a:rPr sz="1875" b="1">
                <a:solidFill>
                  <a:srgbClr val="2B2644"/>
                </a:solidFill>
              </a:rPr>
              <a:t>TRACE starts from the identity the sender already knows.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ED78-88CF-4A01-8EEE-704E9E55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29EC9-7F91-41A7-8A37-AE3BC42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6861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4881B-68D6-4AB9-8A27-A256E569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BF280-32F5-47AF-82E3-17A5824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8A4E4-AE75-46D8-9FB1-92A59F77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MECHANICS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89BB-9546-4E2A-BEF6-9A86D9AC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A claim is valid only when three facts 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0BD1A-A5B9-497E-AA07-A4EED06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releases USDC only after identity proof, wallet proof and payment data align.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06282-3F7C-46A9-973A-5EFF2EC9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24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d6c099e194777"/>
          <a:srcRect xmlns:a="http://schemas.openxmlformats.org/drawingml/2006/main" l="0" t="12461" r="0" b="124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914650"/>
            <a:ext cx="7258050" cy="306705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DDA3C-39B9-4C36-A1EB-EB515C3F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2476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9DAA5-36D2-4E4C-8A2D-04BA3B4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1. Identity 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81E26-74B4-4CF8-B63D-F87E5F7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Payment is created for an X recipient identifier before a wallet address is known.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B9671-4C75-492E-92D1-56E6DF6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76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BC562-A37F-4EE2-8908-209FB98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2. Wallet-bound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0285D-5757-4BEE-9D77-0DEA4300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57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Recipient proves X control, signs with the claiming wallet, then claims through Arc escrow.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4EF9D-581B-4650-AD29-FA569C3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56336-AEF1-43A4-9258-4E702E00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2310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90AAD-77B4-4B71-A234-39B58C3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E4D11-6966-49B8-88E1-2686DA9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ACDAB-0B35-431E-B380-FEFE26E8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470FA-8F7B-45DA-AC5F-BDA38EF9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TRACE separates intent, custody and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A0601-CBB5-4028-8F43-A5A24AD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sender can act immediately while settlement waits for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98231-D053-4805-8859-607FD563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FA52-F970-4830-9050-65E6C09F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X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E8B2-5CF5-4E17-B657-238E1327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is addressed by a known public handle.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12BC8-36C0-40D8-A3A3-6FC1D68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AA365-9FFF-4DEC-A0BA-1C6237FA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Arc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4470D-2904-4F84-82D4-6230C9A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USDC custody sits in the contract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8E297-A71C-4049-983F-A0D4AE35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83D8C-F99C-4ED6-AC96-007A985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B0832-B31B-409C-8D29-E102E0D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Recipient signs a wallet challenge after OAuth.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D89AE-38F8-4DA2-8CC2-62B2A43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33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45279D-4624-4498-BD90-9EEFC1A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337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Settlement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4DEF1-0BAA-4BE1-A2C2-18E36D3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95700"/>
            <a:ext cx="1914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Claim, cancel or refund closes the route.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A6EC1-EACE-48CA-B962-C8E96A29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B2644"/>
                </a:solidFill>
              </a:defRPr>
            </a:pPr>
            <a:r>
              <a:rPr sz="1725" b="1">
                <a:solidFill>
                  <a:srgbClr val="2B2644"/>
                </a:solidFill>
              </a:rPr>
              <a:t>The backend indexes state; verified Arc transactions settle 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C22D7-336C-4B20-9B40-0C6A87B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4324E-E603-4764-A892-A04E1FCA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8517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FAAFE-7C82-493C-8025-5DBF7DFC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F0E3E-FAD6-4D9B-9092-D46D42E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D2B1D-C56D-4583-9BB2-041F7DF8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WHY 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3C30E-07A2-4828-A1F9-2A13C634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It is a claim lifecycle, not just address lookup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24B5-038A-4F0F-AF14-2560129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moat is recoverable, proof-bound USDC settlement.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AEFCD-CC02-4B5B-8C12-D8607047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2E47-4830-49C8-A03F-7E442E61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Direct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211C-3E46-4B40-9EC3-D4D8F777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Fast only when the address is already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CDDB9-6B84-4A3B-B7D6-E4728BE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No identity claim / weak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0A8C1-569F-4820-BCF6-E7F66B1F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43A26-9B8D-4D7F-9F44-831494C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0505"/>
                </a:solidFill>
              </a:defRPr>
            </a:pPr>
            <a:r>
              <a:rPr sz="1275" b="1">
                <a:solidFill>
                  <a:srgbClr val="050505"/>
                </a:solidFill>
              </a:rPr>
              <a:t>Custodial handle 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D3876-2893-4295-8F61-DDAEB56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Smooth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8DCE-1257-4907-A0C3-5266B23E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5B62"/>
                </a:solidFill>
              </a:defRPr>
            </a:pPr>
            <a:r>
              <a:rPr sz="1200" b="0">
                <a:solidFill>
                  <a:srgbClr val="5B5B62"/>
                </a:solidFill>
              </a:rPr>
              <a:t>Custody and platform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E421A-9892-4B53-AA33-C0C6D00C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096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F4647-8277-4A25-A852-30FC30D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1518-0775-4841-BF15-91504F8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8D4E8"/>
                </a:solidFill>
              </a:defRPr>
            </a:pPr>
            <a:r>
              <a:rPr sz="1200">
                <a:solidFill>
                  <a:srgbClr val="D8D4E8"/>
                </a:solidFill>
              </a:rPr>
              <a:t>Send now, prove later, recover if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B6565-E5CE-47CA-B994-E636096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339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Non-custodial Arc escrow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050EA-6F80-4CE8-B1B4-0C14801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EC55E-7462-44FC-B55E-F327CA1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5435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CC2C6-9F18-44B3-8D22-986ED631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C682-8468-41BB-85D3-866CB1B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C18B-C2CC-4AF5-B0F5-D8C590B2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ARC + 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16A7-A9CE-4DB8-AF57-68C3E27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DeFi primitive is programmable stablecoin settlement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10A1-F037-4FAB-8610-CD58E5E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TRACE uses stablecoin custody, policy and recovery as the product 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71F6-031D-4C75-A625-A139311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04105-D08F-41F2-959E-9B2FA04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BD5DE-0427-4788-8327-DC1ABCB0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Execution layer and testnet settlement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463AB-9528-4530-A2A7-1467D6C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2B49-C3CC-4498-B473-BF08F11C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USDC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0B346-EE54-4A47-B6FF-C8113C81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Principal, claim asset and fee unit.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F1CC-3452-4E11-90D8-548E9F86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1CAEF-5B55-4108-8534-E168278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9524-ED47-4861-9FC5-A8C5770A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Identity-bound claim, cancel and expiry.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C3218-401A-436B-8DB9-03B8DB8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8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6276-E156-4134-8ECF-52FE3335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Treasury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0A5FB-EC6F-4833-A71D-2C158474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338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Onchain fee routing while principal remains recoverable.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14556-68C8-4D0B-9A39-7B4ABD44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852B-3311-4BAD-B6AC-A64F08B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1687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580A3-6AAA-4C00-B1BF-AE8AE26D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13D5-9D9E-4579-AD6A-0633936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50E6-6C0A-4077-A091-F132055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7D69-BB4D-4D09-8342-FB76A15F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Claims require identity, wallet and digest agreement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788F-1DCD-4CB1-B42A-DFB9E6A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product should fail closed when proof or chain state is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30CDE-A041-4CAD-92A8-81A9335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1700-9F6E-478B-B8FA-0666555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Recipient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E806C-B967-4D33-9365-FC7834E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X OAuth must match immutable recipient user 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5547-C7A5-4BD7-BAC7-A42A909A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0821-E705-4F1C-A698-FC9B9B6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Wallet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450D7-A47C-48AD-ACA0-25BC383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813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Signed challenge binds the destination wallet.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802D0-FC7C-45E2-90F9-EC89735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E84A-1F53-410E-AA5E-79998C8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Claim digest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1FC5C-9ABD-47A1-BBE3-7EBAF4F5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Payment, wallet, chain, contract and expiry are bound.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CCAD5-663A-4683-AABF-E4B256C3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F29766-1821-482E-A37F-CFAC256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69F21-2268-4DC1-90FD-DF08D5B0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Cancel/refund remains available under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EAE12-B4AA-47C2-A3DA-9B5347D4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C9AED-E34A-4517-9B69-890E18A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221CC-773C-4A06-8B95-A8325629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Unauthorized API views omit sensitive payment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20553-86F7-41DD-9ADB-6D8BFB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4914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AFB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1D0D9-D2CD-4B92-B8F1-A9608DA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0505"/>
                </a:solidFill>
              </a:defRPr>
            </a:pPr>
            <a:r>
              <a:rPr sz="1350" b="1">
                <a:solidFill>
                  <a:srgbClr val="050505"/>
                </a:solidFill>
              </a:rPr>
              <a:t>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61542-EADF-4566-89F7-2629BF5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57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B5B62"/>
                </a:solidFill>
              </a:defRPr>
            </a:pPr>
            <a:r>
              <a:rPr sz="1163">
                <a:solidFill>
                  <a:srgbClr val="5B5B62"/>
                </a:solidFill>
              </a:rPr>
              <a:t>External review and role separation remain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ECED9-6C7C-45FC-A8CC-BCD6352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65C96-5E3E-42EC-B7A4-8F88AE79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25087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1AC02-74EC-4245-A957-9902DE4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6CD5B-42EE-4BAB-BD85-5FD7E5F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7A5A-9727-4D14-9380-2B747D1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71C7-0947-4A2E-88F1-BC28B042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working proof is already testable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71BF3-DDF1-469E-BDFD-1F950307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Keep the proof large; long transaction hashes belong in README/explorer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1EDF-0D65-432A-BC22-7E236C2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08C73-4654-4676-932C-2DCA19C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37 /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ED81E-FFAD-4694-B8CB-9430962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6BFD2-0014-4469-A554-DC4893E1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C813-67C1-4D8D-92A1-AA9AFA9D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5042002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387F3-B07E-4D45-9558-E4E7CBE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Arc Testnet chain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94AA-25BF-4E38-A90A-1FAF0C09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CB18-F911-4BA8-AA53-9148D37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50505"/>
                </a:solidFill>
              </a:defRPr>
            </a:pPr>
            <a:r>
              <a:rPr sz="2700" b="1">
                <a:solidFill>
                  <a:srgbClr val="050505"/>
                </a:solidFill>
              </a:rPr>
              <a:t>0.50%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2E261-E685-4A4C-9B74-B243FB5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minimum protocol fee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2779F-0C8F-4F5D-93B2-6823E06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23241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04DCA-9D22-4D13-93C3-155CABC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644"/>
                </a:solidFill>
              </a:defRPr>
            </a:pPr>
            <a:r>
              <a:rPr sz="2700" b="1">
                <a:solidFill>
                  <a:srgbClr val="2B2644"/>
                </a:solidFill>
              </a:rPr>
              <a:t>3 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D4957-39FD-445E-B312-FB1D117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5B62"/>
                </a:solidFill>
              </a:defRPr>
            </a:pPr>
            <a:r>
              <a:rPr sz="1125">
                <a:solidFill>
                  <a:srgbClr val="5B5B62"/>
                </a:solidFill>
              </a:rPr>
              <a:t>claim, cancel, refund smoke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C2061-3B2C-402B-BB21-8704052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9372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1A73F-4CC1-4803-B326-DC16C42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50505"/>
                </a:solidFill>
              </a:defRPr>
            </a:pPr>
            <a:r>
              <a:rPr sz="1350">
                <a:solidFill>
                  <a:srgbClr val="050505"/>
                </a:solidFill>
              </a:rPr>
              <a:t>Contract: 0x5A3949aE67a37e7e37bFC77F5b7832Cc93f40A2a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AAC6D-8B4F-4AEF-A480-45FF5D08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06224-7C48-4619-84CD-D348C7E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7620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94E6-0E8E-4A3C-9FD1-BADC9BED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E1E2C-8951-42A9-B736-B3BB2B6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A891-7EC6-411A-A268-8AE475E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B6A2F-36D1-48A1-B0C8-1CE1AC9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Ready for demo; honest about hardening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B1F9-700F-44E9-922E-91CC483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This should be presented as a testnet pilot, not a production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4411E-E57C-4FB4-B25B-EDA9C7FC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7B33A-D418-4E33-BA45-4B0EF56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Ready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15D8C-60CC-4C4D-A628-C28E66F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Deployment, lifecycle evidence and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2F04A-B380-4CC8-B33E-DE9B639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44CD-9020-4496-B9CE-F0131110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Main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DBD89-9027-41BA-B136-B4CAADA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X API dependency and role/key custody.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07717-AA81-4329-89A8-75DBB96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1CD27-6911-4662-8022-318DFBD5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Before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C3F3-A6E7-4D50-B07E-4D80EA82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HTTPS, managed DB, E2E,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6F6B-4F58-41F7-9176-9EEAD98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2644"/>
                </a:solidFill>
              </a:defRPr>
            </a:pPr>
            <a:r>
              <a:rPr sz="1650" b="1">
                <a:solidFill>
                  <a:srgbClr val="2B2644"/>
                </a:solidFill>
              </a:rPr>
              <a:t>Honest positioning is stronger than pretending production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31D6A-80F8-4C06-93E2-5EB5CD7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B9310-C453-4BD0-B8A2-6DC3F8E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607581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3FFE6-530E-4607-B1BB-08B0545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9A21-4F34-45D6-8076-DC081B8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4000">
                <a:srgbClr val="F5F5F5"/>
              </a:gs>
              <a:gs pos="100000">
                <a:srgbClr val="EEEAFB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68AA-E2AE-4DDB-97EC-E183372D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5B62"/>
                </a:solidFill>
              </a:defRPr>
            </a:pPr>
            <a:r>
              <a:rPr sz="900" b="1">
                <a:solidFill>
                  <a:srgbClr val="5B5B62"/>
                </a:solidFill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EE2A2-5854-4AFE-8D25-A580EF20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Help turn the proof into a public Arc testnet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FA96-25FE-444F-83B3-D2E734F4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5B62"/>
                </a:solidFill>
              </a:defRPr>
            </a:pPr>
            <a:r>
              <a:rPr sz="1425">
                <a:solidFill>
                  <a:srgbClr val="5B5B62"/>
                </a:solidFill>
              </a:rPr>
              <a:t>The immediate milestone is packaging and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7810-FBB6-4060-8C5A-2CDDD795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DBF78-9469-4BAE-8857-55A356C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BAE0B-D808-4C90-868E-1E51E3F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Arc/Circle fit, security model and DeFi-track positioning.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A6CCC-C2DB-4867-9AD7-A59B51C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338F-F63D-4BBB-8419-243DC39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Public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4CC6-E3AA-4539-9E87-F74EAD4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C5D8"/>
                </a:solidFill>
              </a:defRPr>
            </a:pPr>
            <a:r>
              <a:rPr sz="1200">
                <a:solidFill>
                  <a:srgbClr val="C9C5D8"/>
                </a:solidFill>
              </a:rPr>
              <a:t>HTTPS demo, CI, explorer links and release tag.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58484-ACF7-456A-A2A7-E72C07C6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3048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836F6-B05B-4C47-ABD5-40A1797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Hardening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11DB2-3695-4DB9-BBD9-EB2F475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5B62"/>
                </a:solidFill>
              </a:defRPr>
            </a:pPr>
            <a:r>
              <a:rPr sz="1200">
                <a:solidFill>
                  <a:srgbClr val="5B5B62"/>
                </a:solidFill>
              </a:rPr>
              <a:t>Two-account X E2E, role separation and external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DAA04-013B-4E1F-B025-F08D15A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TRACE is focused: send USDC to an identity now, settle to a verified wallet later.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4504B-116A-49D9-9B21-518AAC18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5B62"/>
                </a:solidFill>
              </a:defRPr>
            </a:pPr>
            <a:r>
              <a:rPr sz="900">
                <a:solidFill>
                  <a:srgbClr val="5B5B62"/>
                </a:solidFill>
              </a:rPr>
              <a:t>TRACE — Trusted Recipient Arc Claim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D5A4F-C469-4016-8036-2E65BE8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0505"/>
                </a:solidFill>
              </a:defRPr>
            </a:pPr>
            <a:r>
              <a:rPr sz="900" b="1">
                <a:solidFill>
                  <a:srgbClr val="05050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473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2026-07-24T09:38:44.7790000Z</dcterms:created>
  <dcterms:modified xsi:type="dcterms:W3CDTF">2026-07-24T09:38:44.7790000Z</dcterms:modified>
</coreProperties>
</file>